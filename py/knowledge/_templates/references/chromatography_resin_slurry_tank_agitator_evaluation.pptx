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207008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Chromatography Resin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Slurry Tank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94944" y="27432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and impeller recommendation for a 250–1,000 L stainless CIP/SIP slurry preparation tank.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" y="3794760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EAF4FF"/>
          </a:solidFill>
          <a:ln w="10160">
            <a:solidFill>
              <a:srgbClr val="2962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849624"/>
            <a:ext cx="2404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DIR: 3-1-2-2-3-2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1568" y="3794760"/>
            <a:ext cx="2176272" cy="310896"/>
          </a:xfrm>
          <a:prstGeom prst="roundRect">
            <a:avLst>
              <a:gd name="adj" fmla="val 14706"/>
            </a:avLst>
          </a:prstGeom>
          <a:solidFill>
            <a:srgbClr val="E8F7F5"/>
          </a:solidFill>
          <a:ln w="10160">
            <a:solidFill>
              <a:srgbClr val="00A3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3849624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Project-team summary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0" y="1280160"/>
            <a:ext cx="2560320" cy="4023360"/>
          </a:xfrm>
          <a:prstGeom prst="can">
            <a:avLst/>
          </a:prstGeom>
          <a:solidFill>
            <a:srgbClr val="FFFFFF"/>
          </a:solidFill>
          <a:ln w="15240">
            <a:solidFill>
              <a:srgbClr val="2962A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92640" y="777240"/>
            <a:ext cx="0" cy="91440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2212848"/>
            <a:ext cx="17830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low-speed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5577840"/>
            <a:ext cx="4297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Gentle suspension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representative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column-packing slurry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basis from DIR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73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VOLUME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9536" y="20025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250–1,000 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673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TANK FORMAT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90288" y="20025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Stainless fixed tank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673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SLURRY STRENGTH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93608" y="20025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20–50% settled resin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3375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RESIN TOLERANCE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" y="38313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Moderately shear-sensitive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89120" y="33375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E8F7F5"/>
          </a:solidFill>
          <a:ln w="10160">
            <a:solidFill>
              <a:srgbClr val="00A3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DUTY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90288" y="38313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slurry before column packing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3337560"/>
            <a:ext cx="3246120" cy="1216152"/>
          </a:xfrm>
          <a:prstGeom prst="roundRect">
            <a:avLst>
              <a:gd name="adj" fmla="val 3759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CLEANABILITY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38313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CIP/SIP stainless system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implication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71800" y="5056632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high local shear. Favor slow, bulk-circulation impellers that keep resin uniformly suspended and transfer-ready without bead attrition or air entrainment.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Mixing objectives and failure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24328" y="2560320"/>
            <a:ext cx="594360" cy="0"/>
          </a:xfrm>
          <a:prstGeom prst="line">
            <a:avLst/>
          </a:prstGeom>
          <a:noFill/>
          <a:ln w="25400">
            <a:solidFill>
              <a:srgbClr val="00A39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184648" y="2560320"/>
            <a:ext cx="594360" cy="0"/>
          </a:xfrm>
          <a:prstGeom prst="line">
            <a:avLst/>
          </a:prstGeom>
          <a:noFill/>
          <a:ln w="25400">
            <a:solidFill>
              <a:srgbClr val="00A39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4968" y="2560320"/>
            <a:ext cx="594360" cy="0"/>
          </a:xfrm>
          <a:prstGeom prst="line">
            <a:avLst/>
          </a:prstGeom>
          <a:noFill/>
          <a:ln w="25400">
            <a:solidFill>
              <a:srgbClr val="00A39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" y="2057400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258568"/>
            <a:ext cx="329184" cy="329184"/>
          </a:xfrm>
          <a:prstGeom prst="ellipse">
            <a:avLst/>
          </a:prstGeom>
          <a:solidFill>
            <a:srgbClr val="2962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317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Resin + buffer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587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Low-foam charge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218688" y="2057400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8416" y="2258568"/>
            <a:ext cx="329184" cy="329184"/>
          </a:xfrm>
          <a:prstGeom prst="ellipse">
            <a:avLst/>
          </a:prstGeom>
          <a:solidFill>
            <a:srgbClr val="2962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23317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2402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Gentle resuspend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2587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settled bed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779008" y="2057400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E8F7F5"/>
          </a:solidFill>
          <a:ln w="10160">
            <a:solidFill>
              <a:srgbClr val="00A3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88736" y="2258568"/>
            <a:ext cx="329184" cy="329184"/>
          </a:xfrm>
          <a:prstGeom prst="ellipse">
            <a:avLst/>
          </a:prstGeom>
          <a:solidFill>
            <a:srgbClr val="00A3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23317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Homogenize / sample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587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solids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339328" y="2057400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2258568"/>
            <a:ext cx="329184" cy="329184"/>
          </a:xfrm>
          <a:prstGeom prst="ellipse">
            <a:avLst/>
          </a:prstGeom>
          <a:solidFill>
            <a:srgbClr val="2962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23317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22402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to column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0" y="2587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slurry feed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77240" y="4590288"/>
            <a:ext cx="5394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High-speed impellers can crack or abrade resin beads.</a:t>
            </a:r>
            <a:endParaRPr lang="en-US" sz="1530" dirty="0"/>
          </a:p>
          <a:p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 zones create non-representative slurry concentration.</a:t>
            </a:r>
            <a:endParaRPr lang="en-US" sz="1530" dirty="0"/>
          </a:p>
          <a:p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entrainment affects packing consistency and bed uniformity.</a:t>
            </a:r>
            <a:endParaRPr lang="en-US" sz="1530" dirty="0"/>
          </a:p>
          <a:p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Hard-settled resin requires controlled resuspension, not aggressive shear.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64465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outcome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492240" y="4535424"/>
            <a:ext cx="4773168" cy="1234440"/>
          </a:xfrm>
          <a:prstGeom prst="roundRect">
            <a:avLst>
              <a:gd name="adj" fmla="val 3704"/>
            </a:avLst>
          </a:prstGeom>
          <a:solidFill>
            <a:srgbClr val="EAF4FF"/>
          </a:solidFill>
          <a:ln w="10160">
            <a:solidFill>
              <a:srgbClr val="2962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48280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transfer-ready, homogeneous resin slurry produced with the lowest practical power input and validated by representative sampling.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Best-fit agitator shortlist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Resin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CIP/SIP fit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1417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764792"/>
            <a:ext cx="9509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Double-Helix Resin Agitator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4846320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9827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93335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66842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0350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8587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2095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5602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9110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187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3695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202" y="2048256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0710" y="2048256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993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685800" y="26700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Low-Shear Axial Hydrofoil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846320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9827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93335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66842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40350" y="2706624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587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02095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5602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9110" y="2706624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187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73695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202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20710" y="2706624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15400" y="2651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420" dirty="0"/>
          </a:p>
        </p:txBody>
      </p:sp>
      <p:sp>
        <p:nvSpPr>
          <p:cNvPr id="45" name="Text 43"/>
          <p:cNvSpPr/>
          <p:nvPr/>
        </p:nvSpPr>
        <p:spPr>
          <a:xfrm>
            <a:off x="685800" y="33284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Wide-Blade Pitched-Blade Turbine</a:t>
            </a:r>
            <a:endParaRPr lang="en-US" sz="1420" dirty="0"/>
          </a:p>
        </p:txBody>
      </p:sp>
      <p:sp>
        <p:nvSpPr>
          <p:cNvPr id="46" name="Shape 44"/>
          <p:cNvSpPr/>
          <p:nvPr/>
        </p:nvSpPr>
        <p:spPr>
          <a:xfrm>
            <a:off x="4846320" y="3364992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19827" y="3364992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93335" y="3364992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6842" y="3364992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40350" y="3364992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5080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28587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02095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75602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9110" y="3364992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26680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00187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73695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47202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20710" y="3364992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15400" y="3310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Acceptable</a:t>
            </a:r>
            <a:endParaRPr lang="en-US" sz="1420" dirty="0"/>
          </a:p>
        </p:txBody>
      </p:sp>
      <p:sp>
        <p:nvSpPr>
          <p:cNvPr id="62" name="Text 60"/>
          <p:cNvSpPr/>
          <p:nvPr/>
        </p:nvSpPr>
        <p:spPr>
          <a:xfrm>
            <a:off x="68580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Aseptic Magnetic Bottom Mixer</a:t>
            </a:r>
            <a:endParaRPr lang="en-US" sz="1420" dirty="0"/>
          </a:p>
        </p:txBody>
      </p:sp>
      <p:sp>
        <p:nvSpPr>
          <p:cNvPr id="63" name="Shape 61"/>
          <p:cNvSpPr/>
          <p:nvPr/>
        </p:nvSpPr>
        <p:spPr>
          <a:xfrm>
            <a:off x="4846320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19827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93335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66842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40350" y="4023360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55080" y="4023360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28587" y="4023360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02095" y="4023360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5602" y="4023360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49110" y="4023360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26680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0187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73695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47202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20710" y="4023360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15400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1420" dirty="0"/>
          </a:p>
        </p:txBody>
      </p:sp>
      <p:sp>
        <p:nvSpPr>
          <p:cNvPr id="79" name="Text 77"/>
          <p:cNvSpPr/>
          <p:nvPr/>
        </p:nvSpPr>
        <p:spPr>
          <a:xfrm>
            <a:off x="685800" y="4645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Anchor/Sweep + Axial Kicker</a:t>
            </a:r>
            <a:endParaRPr lang="en-US" sz="1420" dirty="0"/>
          </a:p>
        </p:txBody>
      </p:sp>
      <p:sp>
        <p:nvSpPr>
          <p:cNvPr id="80" name="Shape 78"/>
          <p:cNvSpPr/>
          <p:nvPr/>
        </p:nvSpPr>
        <p:spPr>
          <a:xfrm>
            <a:off x="4846320" y="4681728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19827" y="4681728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93335" y="4681728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66842" y="4681728"/>
            <a:ext cx="105156" cy="105156"/>
          </a:xfrm>
          <a:prstGeom prst="ellipse">
            <a:avLst/>
          </a:prstGeom>
          <a:solidFill>
            <a:srgbClr val="4B95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40350" y="4681728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55080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28587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02095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75602" y="4681728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49110" y="4681728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26680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00187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073695" y="4681728"/>
            <a:ext cx="105156" cy="105156"/>
          </a:xfrm>
          <a:prstGeom prst="ellipse">
            <a:avLst/>
          </a:prstGeom>
          <a:solidFill>
            <a:srgbClr val="D398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47202" y="4681728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20710" y="4681728"/>
            <a:ext cx="105156" cy="105156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15400" y="46268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case</a:t>
            </a:r>
            <a:endParaRPr lang="en-US" sz="1420" dirty="0"/>
          </a:p>
        </p:txBody>
      </p:sp>
      <p:sp>
        <p:nvSpPr>
          <p:cNvPr id="96" name="Text 94"/>
          <p:cNvSpPr/>
          <p:nvPr/>
        </p:nvSpPr>
        <p:spPr>
          <a:xfrm>
            <a:off x="704088" y="555955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key: five filled dots = strongest fit for this service.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7589520" y="5166360"/>
            <a:ext cx="3520440" cy="786384"/>
          </a:xfrm>
          <a:prstGeom prst="roundRect">
            <a:avLst>
              <a:gd name="adj" fmla="val 5814"/>
            </a:avLst>
          </a:prstGeom>
          <a:solidFill>
            <a:srgbClr val="FFF4DF"/>
          </a:solidFill>
          <a:ln w="10160">
            <a:solidFill>
              <a:srgbClr val="D398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5552" y="538581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select double-helix where available; use dual low-shear axial hydrofoils for custom stainless designs.</a:t>
            </a:r>
            <a:endParaRPr lang="en-US" sz="1430" dirty="0"/>
          </a:p>
        </p:txBody>
      </p:sp>
      <p:sp>
        <p:nvSpPr>
          <p:cNvPr id="99" name="Text 97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4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selection: Double-Helix Resin Agitator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886200" cy="4343400"/>
          </a:xfrm>
          <a:prstGeom prst="roundRect">
            <a:avLst>
              <a:gd name="adj" fmla="val 1176"/>
            </a:avLst>
          </a:prstGeom>
          <a:solidFill>
            <a:srgbClr val="E8F7F5"/>
          </a:solidFill>
          <a:ln w="10160">
            <a:solidFill>
              <a:srgbClr val="00A3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technical fit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resin slurry systems use slow, bulk-circulation motion to suspend resin gently and maintain a transfer-ready packing slurry.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6758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speed • high turnover • low shear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duty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74920" y="1901952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Column-packing slurry preparation.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Moderately shear-sensitive agarose or polymeric resin.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20–50% settled resin volume at 250–1,000 L scale.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stainless system with CIP/SIP validation.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924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B9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83880" y="1901952"/>
            <a:ext cx="3200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resin-protection profile.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top-to-bottom turnover at low speed.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aligned with resin mixer package systems.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924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9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 / watchouts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83880" y="4096512"/>
            <a:ext cx="3246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specialized than commodity impellers.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Supplier-specific vessel integration.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recipe validation for speed, time and sample uniformity.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Alternative agitators and when to use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5193792" cy="1572768"/>
          </a:xfrm>
          <a:prstGeom prst="roundRect">
            <a:avLst>
              <a:gd name="adj" fmla="val 2907"/>
            </a:avLst>
          </a:prstGeom>
          <a:solidFill>
            <a:srgbClr val="EAF4FF"/>
          </a:solidFill>
          <a:ln w="10160">
            <a:solidFill>
              <a:srgbClr val="2962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9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Low-Shear Axial Hydrofoil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83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Custom stainless tank where a generic sanitary agitator is preferred.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868680" y="22037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9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Efficient axial flow; good suspension with lower shear than pitched blades.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39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Watchout: May need dual impellers and careful baffle design.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85800" y="3392424"/>
            <a:ext cx="5193792" cy="1572768"/>
          </a:xfrm>
          <a:prstGeom prst="roundRect">
            <a:avLst>
              <a:gd name="adj" fmla="val 2907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57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Wide-Blade PBT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Robust resin or difficult initial resuspension.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42428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9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Proven solids suspension; readily sourced.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39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Watchout: Higher shear and power than hydrofoil.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263640" y="1353312"/>
            <a:ext cx="5193792" cy="1572768"/>
          </a:xfrm>
          <a:prstGeom prst="roundRect">
            <a:avLst>
              <a:gd name="adj" fmla="val 2907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Magnetic Bottom Mixer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1883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Aseptic containment or low-heel recovery is the dominant driver.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446520" y="22037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9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No shaft seal; strong CIP/SIP advantages.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446520" y="24871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39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Watchout: May struggle with settled resin bed at 250–1,000 L.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263640" y="3392424"/>
            <a:ext cx="5193792" cy="1572768"/>
          </a:xfrm>
          <a:prstGeom prst="roundRect">
            <a:avLst>
              <a:gd name="adj" fmla="val 2907"/>
            </a:avLst>
          </a:prstGeom>
          <a:solidFill>
            <a:srgbClr val="F5F7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557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Anchor/Sweep + Axial Kicker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when: High-solids or compacting resin bed with dead-zone risk.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446520" y="42428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95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Pros: Gentle bottom/wall sweeping.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446520" y="4526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D39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Watchout: Complex, harder to clean and usually special-case.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71632" cy="420624"/>
          </a:xfrm>
          <a:prstGeom prst="roundRect">
            <a:avLst>
              <a:gd name="adj" fmla="val 10870"/>
            </a:avLst>
          </a:prstGeom>
          <a:solidFill>
            <a:srgbClr val="FFF4DF"/>
          </a:solidFill>
          <a:ln w="10160">
            <a:solidFill>
              <a:srgbClr val="D398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7332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specify high-speed dispersers, rotor-stators, Rushton turbines, or aggressive recirculation loops for this resin duty.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Agitator Selection / Chromatography Resin Slurry Tank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Procurement-ready specification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specification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937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Top-entry VFD-controlled agitator sized for 250–1,000 L working volume.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Impeller: double-helix resin agitator preferred; dual low-shear axial hydrofoils acceptable backup.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Low-speed recipe: resuspend → homogenize → sample → transfer.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Sanitary shaft/seal design, full CIP spray coverage and drainability.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slurry sampling point and low-shear transfer pump.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4652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Manufacturer shortlist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9377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Cytiva — BioProcess Resin Mixer / dedicated resin slurry package.</a:t>
            </a:r>
            <a:endParaRPr lang="en-US" sz="1330" dirty="0"/>
          </a:p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Bio / Fluid Management — SLURIPREP slurry handling systems.</a:t>
            </a:r>
            <a:endParaRPr lang="en-US" sz="1330" dirty="0"/>
          </a:p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SPX FLOW Lightnin — sanitary mixers and A310/A510 hydrofoils.</a:t>
            </a:r>
            <a:endParaRPr lang="en-US" sz="1330" dirty="0"/>
          </a:p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Alfa Laval — hygienic agitators and LeviMag UltraPure.</a:t>
            </a:r>
            <a:endParaRPr lang="en-US" sz="1330" dirty="0"/>
          </a:p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ZETA / Steridose / Metenova — aseptic magnetic agitators.</a:t>
            </a:r>
            <a:endParaRPr lang="en-US" sz="1330" dirty="0"/>
          </a:p>
          <a:p>
            <a:r>
              <a:rPr lang="en-US" sz="13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EKATO / Jongia — custom hygienic agitator systems.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85800" y="461772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E8F7F5"/>
          </a:solidFill>
          <a:ln w="10160">
            <a:solidFill>
              <a:srgbClr val="00A3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82803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proceed with double-helix as basis of design; retain low-shear hydrofoil as second-source/custom-tank alternate.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" y="57150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Cytiva BioProcess Resin Mixer; Alfa Laval LeviMag UltraPure; SPX FLOW Lightnin A310/A510 hydrofoil; ZETA magnetic agitators; Lisure hygienic slurry tank.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Project-team summary • Slide 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Basis: user DIR code 3-1-2-2-3-2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Chromatography Resin Slurry Tank Agitator Selection</dc:title>
  <dc:subject>Chromatography Resin Slurry Tank agitator selection</dc:subject>
  <dc:creator>OpenAI</dc:creator>
  <cp:lastModifiedBy>OpenAI</cp:lastModifiedBy>
  <cp:revision>1</cp:revision>
  <dcterms:created xsi:type="dcterms:W3CDTF">2026-07-08T13:16:49Z</dcterms:created>
  <dcterms:modified xsi:type="dcterms:W3CDTF">2026-07-08T13:16:49Z</dcterms:modified>
</cp:coreProperties>
</file>