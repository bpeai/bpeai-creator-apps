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summary from result fields:</a:t>
            </a:r>
          </a:p>
          <a:p>
            <a:r>
              <a:t>Recommended technology: Develop a variable-speed hygienic top-entry agitator with staged down-pumping axial-flow hydrofoils, hygienic baffles or validated off-center swirl control, and controlled closed powder addition.</a:t>
            </a:r>
          </a:p>
          <a:p/>
          <a:p>
            <a:r>
              <a:t>Selection rationale: The controlling duty is not simple liquid blending. The system must rapidly draw down and dissolve 50–150 kg/m³ of powders that may float, raft, clump, or dissolve slowly while maintaining low product shear and tightly limiting vortexing, air entrainment, and foam. A variable-speed top-entry agitator using one or more down-pumping axial-flow hydrofoils provides the strongest preliminary balance of high circulation per unit power, off-bottom sweeping, low localized shear, heat-transfer support, and scale-up familiarity. Multiple impellers are likely for the stated 1.5:1 to 2:1 liquid height-to-diameter ratio, but their number, diameter, spacing, and elevation require actual vessel geometry and vendor hydraulic analysis.</a:t>
            </a:r>
          </a:p>
          <a:p/>
          <a:p>
            <a:r>
              <a:t>The expected base-fluid regime is turbulent for water-like media, although transient concentrated zones, cold operation, or polymeric ingredients could create locally viscous, non-Newtonian, or yield-stress behavior. Hydrofoil performance therefore needs confirmation using ingredient properties and representative powder-addition trials. The preliminary scale-up basis should preserve geometric similarity where practicable and evaluate power per volume, impeller tip speed, pumping capacity, blend time, and minimum suspension speed rather than relying on a single scale-up parameter. Published biopharmaceutical mixing work confirms that vessel geometry and hydrofoil arrangement materially affect mixing performance (Mixing in process vessels used in biopharmaceutical manufacturing, https://pubmed.ncbi.nlm.nih.gov/10753450/), while broader scale-up literature emphasizes characterization of hydrodynamics, fluid properties, and geometry (Development and Scale-Up of the Mixing Process, https://link.springer.com/chapter/10.1007/978-3-030-31415-6_22).</a:t>
            </a:r>
          </a:p>
          <a:p/>
          <a:p>
            <a:r>
              <a:t>A hygienic top-entry arrangement introduces a rotating shaft penetration and associated seal boundary, but it offers better torque and suspension scalability for this volume and loading than a bottom-entry magnetic mixer. The seal arrangement must be developed for the numerical pressure/vacuum cycles, cleaning chemicals, allowable leakage, and contamination-control strategy. Product-contact surfaces, welds, internals, sanitary connections, drainability, spray coverage, and elastomer compatibility should be documented for qualification readiness. The DIR requires cleanability but does not establish aseptic service, SIP, or sterile operation; these must not be inferred. Risk- and science-based mixing qualification should demonstrate the ±2% endpoint at worst-case volume, temperature, ingredient sequence, powder loading, and permitted speed range (Risk- and Science-Based Media and Buffer Mixing Validations, https://ispe.org/pharmaceutical-engineering/march-april-2024/risk-and-science-based-media-and-buffer-mixing).</a:t>
            </a:r>
          </a:p>
          <a:p/>
          <a:p>
            <a:r>
              <a:t>Selection criteria: Industry: Biopharmaceutical &amp; Biologics; Host system: Media Preparation Vessel / hygienic solution preparation vessel; Validated DIR code: 3-3-3-3-3-2-3</a:t>
            </a:r>
          </a:p>
          <a:p/>
          <a:p>
            <a:r>
              <a:t>Limitations: Anchor or frame agitator: Predominantly tangential, close-clearance flow is not the preferred primary mechanism for rapid powder drawdown and turbulent suspension in water-like media.; Helical-ribbon agitator: Intended mainly for laminar, very-high-viscosity service and adds unnecessary close-clearance internals for the expected media-preparation duty.; Recirculating jet-mixing system: Primary performance would depend on pump hydraulics and nozzle coverage, with increased concern for low-level coverage, dead zones, loop cleanability, and reliable powder suspension.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589520" y="0"/>
            <a:ext cx="4599432" cy="6858000"/>
          </a:xfrm>
          <a:prstGeom prst="roundRect">
            <a:avLst>
              <a:gd name="adj" fmla="val 8000"/>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50000" y="650000"/>
            <a:ext cx="3850000" cy="420000"/>
          </a:xfrm>
          <a:prstGeom prst="rect">
            <a:avLst/>
          </a:prstGeom>
          <a:noFill/>
        </p:spPr>
        <p:txBody>
          <a:bodyPr wrap="square" lIns="27432" rIns="27432" tIns="18288" bIns="18288">
            <a:spAutoFit/>
          </a:bodyPr>
          <a:lstStyle/>
          <a:p>
            <a:r>
              <a:rPr sz="2000" b="1">
                <a:solidFill>
                  <a:srgbClr val="17324D"/>
                </a:solidFill>
                <a:latin typeface="Aptos"/>
              </a:rPr>
              <a:t>Engineering summary</a:t>
            </a:r>
          </a:p>
        </p:txBody>
      </p:sp>
      <p:sp>
        <p:nvSpPr>
          <p:cNvPr id="4" name="TextBox 3"/>
          <p:cNvSpPr txBox="1"/>
          <p:nvPr/>
        </p:nvSpPr>
        <p:spPr>
          <a:xfrm>
            <a:off x="7950000" y="1320000"/>
            <a:ext cx="3850000" cy="290000"/>
          </a:xfrm>
          <a:prstGeom prst="rect">
            <a:avLst/>
          </a:prstGeom>
          <a:noFill/>
        </p:spPr>
        <p:txBody>
          <a:bodyPr wrap="square" lIns="27432" rIns="27432" tIns="18288" bIns="18288">
            <a:spAutoFit/>
          </a:bodyPr>
          <a:lstStyle/>
          <a:p>
            <a:r>
              <a:rPr sz="1200" b="1">
                <a:solidFill>
                  <a:srgbClr val="00A398"/>
                </a:solidFill>
                <a:latin typeface="Aptos"/>
              </a:rPr>
              <a:t>Recommended technology</a:t>
            </a:r>
          </a:p>
        </p:txBody>
      </p:sp>
      <p:sp>
        <p:nvSpPr>
          <p:cNvPr id="5" name="TextBox 4"/>
          <p:cNvSpPr txBox="1"/>
          <p:nvPr/>
        </p:nvSpPr>
        <p:spPr>
          <a:xfrm>
            <a:off x="7950000" y="1635000"/>
            <a:ext cx="3850000" cy="860000"/>
          </a:xfrm>
          <a:prstGeom prst="rect">
            <a:avLst/>
          </a:prstGeom>
          <a:noFill/>
        </p:spPr>
        <p:txBody>
          <a:bodyPr wrap="square" lIns="27432" rIns="27432" tIns="18288" bIns="18288">
            <a:spAutoFit/>
          </a:bodyPr>
          <a:lstStyle/>
          <a:p>
            <a:r>
              <a:rPr sz="1150" b="0">
                <a:solidFill>
                  <a:srgbClr val="1F2937"/>
                </a:solidFill>
                <a:latin typeface="Aptos"/>
              </a:rPr>
              <a:t>Develop a variable-speed hygienic top-entry agitator with staged down-pumping axial-flow hydrofoils, hygienic baffles or validated off-center swirl control, and controlled closed…</a:t>
            </a:r>
          </a:p>
        </p:txBody>
      </p:sp>
      <p:sp>
        <p:nvSpPr>
          <p:cNvPr id="6" name="TextBox 5"/>
          <p:cNvSpPr txBox="1"/>
          <p:nvPr/>
        </p:nvSpPr>
        <p:spPr>
          <a:xfrm>
            <a:off x="7950000" y="2570000"/>
            <a:ext cx="3850000" cy="290000"/>
          </a:xfrm>
          <a:prstGeom prst="rect">
            <a:avLst/>
          </a:prstGeom>
          <a:noFill/>
        </p:spPr>
        <p:txBody>
          <a:bodyPr wrap="square" lIns="27432" rIns="27432" tIns="18288" bIns="18288">
            <a:spAutoFit/>
          </a:bodyPr>
          <a:lstStyle/>
          <a:p>
            <a:r>
              <a:rPr sz="1200" b="1">
                <a:solidFill>
                  <a:srgbClr val="00A398"/>
                </a:solidFill>
                <a:latin typeface="Aptos"/>
              </a:rPr>
              <a:t>Selection rationale</a:t>
            </a:r>
          </a:p>
        </p:txBody>
      </p:sp>
      <p:sp>
        <p:nvSpPr>
          <p:cNvPr id="7" name="TextBox 6"/>
          <p:cNvSpPr txBox="1"/>
          <p:nvPr/>
        </p:nvSpPr>
        <p:spPr>
          <a:xfrm>
            <a:off x="7950000" y="2885000"/>
            <a:ext cx="3850000" cy="860000"/>
          </a:xfrm>
          <a:prstGeom prst="rect">
            <a:avLst/>
          </a:prstGeom>
          <a:noFill/>
        </p:spPr>
        <p:txBody>
          <a:bodyPr wrap="square" lIns="27432" rIns="27432" tIns="18288" bIns="18288">
            <a:spAutoFit/>
          </a:bodyPr>
          <a:lstStyle/>
          <a:p>
            <a:r>
              <a:rPr sz="1150" b="0">
                <a:solidFill>
                  <a:srgbClr val="1F2937"/>
                </a:solidFill>
                <a:latin typeface="Aptos"/>
              </a:rPr>
              <a:t>The controlling duty is not simple liquid blending. The system must rapidly draw down and dissolve 50–150 kg/m³ of powders that may float, raft, clump, or dissolve slowly while ma…</a:t>
            </a:r>
          </a:p>
        </p:txBody>
      </p:sp>
      <p:sp>
        <p:nvSpPr>
          <p:cNvPr id="8" name="TextBox 7"/>
          <p:cNvSpPr txBox="1"/>
          <p:nvPr/>
        </p:nvSpPr>
        <p:spPr>
          <a:xfrm>
            <a:off x="7950000" y="3820000"/>
            <a:ext cx="3850000" cy="290000"/>
          </a:xfrm>
          <a:prstGeom prst="rect">
            <a:avLst/>
          </a:prstGeom>
          <a:noFill/>
        </p:spPr>
        <p:txBody>
          <a:bodyPr wrap="square" lIns="27432" rIns="27432" tIns="18288" bIns="18288">
            <a:spAutoFit/>
          </a:bodyPr>
          <a:lstStyle/>
          <a:p>
            <a:r>
              <a:rPr sz="1200" b="1">
                <a:solidFill>
                  <a:srgbClr val="00A398"/>
                </a:solidFill>
                <a:latin typeface="Aptos"/>
              </a:rPr>
              <a:t>Selection criteria</a:t>
            </a:r>
          </a:p>
        </p:txBody>
      </p:sp>
      <p:sp>
        <p:nvSpPr>
          <p:cNvPr id="9" name="TextBox 8"/>
          <p:cNvSpPr txBox="1"/>
          <p:nvPr/>
        </p:nvSpPr>
        <p:spPr>
          <a:xfrm>
            <a:off x="7950000" y="4135000"/>
            <a:ext cx="3850000" cy="860000"/>
          </a:xfrm>
          <a:prstGeom prst="rect">
            <a:avLst/>
          </a:prstGeom>
          <a:noFill/>
        </p:spPr>
        <p:txBody>
          <a:bodyPr wrap="square" lIns="27432" rIns="27432" tIns="18288" bIns="18288">
            <a:spAutoFit/>
          </a:bodyPr>
          <a:lstStyle/>
          <a:p>
            <a:r>
              <a:rPr sz="1300" b="0">
                <a:solidFill>
                  <a:srgbClr val="1F2937"/>
                </a:solidFill>
                <a:latin typeface="Aptos"/>
              </a:rPr>
              <a:t>Industry: Biopharmaceutical &amp; Biologics; Host system: Media Preparation Vessel / hygienic solution preparation vessel; Validated DIR code: 3-3-3-3-3-2-3</a:t>
            </a:r>
          </a:p>
        </p:txBody>
      </p:sp>
      <p:sp>
        <p:nvSpPr>
          <p:cNvPr id="10" name="TextBox 9"/>
          <p:cNvSpPr txBox="1"/>
          <p:nvPr/>
        </p:nvSpPr>
        <p:spPr>
          <a:xfrm>
            <a:off x="7950000" y="5070000"/>
            <a:ext cx="3850000" cy="290000"/>
          </a:xfrm>
          <a:prstGeom prst="rect">
            <a:avLst/>
          </a:prstGeom>
          <a:noFill/>
        </p:spPr>
        <p:txBody>
          <a:bodyPr wrap="square" lIns="27432" rIns="27432" tIns="18288" bIns="18288">
            <a:spAutoFit/>
          </a:bodyPr>
          <a:lstStyle/>
          <a:p>
            <a:r>
              <a:rPr sz="1200" b="1">
                <a:solidFill>
                  <a:srgbClr val="00A398"/>
                </a:solidFill>
                <a:latin typeface="Aptos"/>
              </a:rPr>
              <a:t>Limitations</a:t>
            </a:r>
          </a:p>
        </p:txBody>
      </p:sp>
      <p:sp>
        <p:nvSpPr>
          <p:cNvPr id="11" name="TextBox 10"/>
          <p:cNvSpPr txBox="1"/>
          <p:nvPr/>
        </p:nvSpPr>
        <p:spPr>
          <a:xfrm>
            <a:off x="7950000" y="5385000"/>
            <a:ext cx="3850000" cy="860000"/>
          </a:xfrm>
          <a:prstGeom prst="rect">
            <a:avLst/>
          </a:prstGeom>
          <a:noFill/>
        </p:spPr>
        <p:txBody>
          <a:bodyPr wrap="square" lIns="27432" rIns="27432" tIns="18288" bIns="18288">
            <a:spAutoFit/>
          </a:bodyPr>
          <a:lstStyle/>
          <a:p>
            <a:r>
              <a:rPr sz="1150" b="0">
                <a:solidFill>
                  <a:srgbClr val="1F2937"/>
                </a:solidFill>
                <a:latin typeface="Aptos"/>
              </a:rPr>
              <a:t>Anchor or frame agitator: Predominantly tangential, close-clearance flow is not the preferred primary mechanism for rapid powder drawdown and turbulent suspension in water-like me…</a:t>
            </a:r>
          </a:p>
        </p:txBody>
      </p:sp>
      <p:sp>
        <p:nvSpPr>
          <p:cNvPr id="12" name="TextBox 11"/>
          <p:cNvSpPr txBox="1"/>
          <p:nvPr/>
        </p:nvSpPr>
        <p:spPr>
          <a:xfrm>
            <a:off x="658368" y="1207008"/>
            <a:ext cx="6217920" cy="1400000"/>
          </a:xfrm>
          <a:prstGeom prst="rect">
            <a:avLst/>
          </a:prstGeom>
          <a:noFill/>
        </p:spPr>
        <p:txBody>
          <a:bodyPr wrap="square" lIns="27432" rIns="27432" tIns="18288" bIns="18288">
            <a:spAutoFit/>
          </a:bodyPr>
          <a:lstStyle/>
          <a:p>
            <a:r>
              <a:rPr sz="3400" b="1">
                <a:solidFill>
                  <a:srgbClr val="17324D"/>
                </a:solidFill>
                <a:latin typeface="Aptos Display"/>
              </a:rPr>
              <a:t>Media Preparation Vessel Mixing</a:t>
            </a:r>
          </a:p>
          <a:p>
            <a:r>
              <a:rPr sz="3400" b="1">
                <a:solidFill>
                  <a:srgbClr val="17324D"/>
                </a:solidFill>
                <a:latin typeface="Aptos Display"/>
              </a:rPr>
              <a:t>Evaluation</a:t>
            </a:r>
          </a:p>
        </p:txBody>
      </p:sp>
      <p:sp>
        <p:nvSpPr>
          <p:cNvPr id="13" name="TextBox 12"/>
          <p:cNvSpPr txBox="1"/>
          <p:nvPr/>
        </p:nvSpPr>
        <p:spPr>
          <a:xfrm>
            <a:off x="694944" y="2743200"/>
            <a:ext cx="5852160" cy="800000"/>
          </a:xfrm>
          <a:prstGeom prst="rect">
            <a:avLst/>
          </a:prstGeom>
          <a:noFill/>
        </p:spPr>
        <p:txBody>
          <a:bodyPr wrap="square" lIns="27432" rIns="27432" tIns="18288" bIns="18288">
            <a:spAutoFit/>
          </a:bodyPr>
          <a:lstStyle/>
          <a:p>
            <a:r>
              <a:rPr sz="1600" b="0">
                <a:solidFill>
                  <a:srgbClr val="1F2937"/>
                </a:solidFill>
                <a:latin typeface="Aptos"/>
              </a:rPr>
              <a:t>Preliminary hygienic mixing comparison for high-load media preparation; SME review and representative testing remain required.</a:t>
            </a:r>
          </a:p>
        </p:txBody>
      </p:sp>
      <p:sp>
        <p:nvSpPr>
          <p:cNvPr id="14" name="Rounded Rectangle 13"/>
          <p:cNvSpPr/>
          <p:nvPr/>
        </p:nvSpPr>
        <p:spPr>
          <a:xfrm>
            <a:off x="694944" y="3794760"/>
            <a:ext cx="2514600" cy="310896"/>
          </a:xfrm>
          <a:prstGeom prst="roundRect">
            <a:avLst>
              <a:gd name="adj" fmla="val 8000"/>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849624"/>
            <a:ext cx="2404872" cy="200000"/>
          </a:xfrm>
          <a:prstGeom prst="rect">
            <a:avLst/>
          </a:prstGeom>
          <a:noFill/>
        </p:spPr>
        <p:txBody>
          <a:bodyPr wrap="square" lIns="27432" rIns="27432" tIns="18288" bIns="18288">
            <a:spAutoFit/>
          </a:bodyPr>
          <a:lstStyle/>
          <a:p>
            <a:pPr algn="ctr"/>
            <a:r>
              <a:rPr sz="1000" b="1">
                <a:solidFill>
                  <a:srgbClr val="2962A3"/>
                </a:solidFill>
                <a:latin typeface="Aptos"/>
              </a:rPr>
              <a:t>Validated DIR: 3-3-3-3-3-2-3</a:t>
            </a:r>
          </a:p>
        </p:txBody>
      </p:sp>
      <p:sp>
        <p:nvSpPr>
          <p:cNvPr id="16" name="Rounded Rectangle 15"/>
          <p:cNvSpPr/>
          <p:nvPr/>
        </p:nvSpPr>
        <p:spPr>
          <a:xfrm>
            <a:off x="3401568" y="3794760"/>
            <a:ext cx="2176272" cy="310896"/>
          </a:xfrm>
          <a:prstGeom prst="roundRect">
            <a:avLst>
              <a:gd name="adj" fmla="val 8000"/>
            </a:avLst>
          </a:prstGeom>
          <a:solidFill>
            <a:srgbClr val="E6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56432" y="3849624"/>
            <a:ext cx="2066544" cy="200000"/>
          </a:xfrm>
          <a:prstGeom prst="rect">
            <a:avLst/>
          </a:prstGeom>
          <a:noFill/>
        </p:spPr>
        <p:txBody>
          <a:bodyPr wrap="square" lIns="27432" rIns="27432" tIns="18288" bIns="18288">
            <a:spAutoFit/>
          </a:bodyPr>
          <a:lstStyle/>
          <a:p>
            <a:pPr algn="ctr"/>
            <a:r>
              <a:rPr sz="1000" b="1">
                <a:solidFill>
                  <a:srgbClr val="00A398"/>
                </a:solidFill>
                <a:latin typeface="Aptos"/>
              </a:rPr>
              <a:t>Project-team summary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0698480" cy="219456"/>
          </a:xfrm>
          <a:prstGeom prst="rect">
            <a:avLst/>
          </a:prstGeom>
          <a:noFill/>
        </p:spPr>
        <p:txBody>
          <a:bodyPr wrap="none">
            <a:spAutoFit/>
          </a:bodyPr>
          <a:lstStyle/>
          <a:p>
            <a:r>
              <a:rPr sz="950" b="1">
                <a:solidFill>
                  <a:srgbClr val="6B7280"/>
                </a:solidFill>
                <a:latin typeface="Aptos"/>
              </a:rPr>
              <a:t>Equipment assessment / Media Preparation Vessel</a:t>
            </a:r>
          </a:p>
        </p:txBody>
      </p:sp>
      <p:sp>
        <p:nvSpPr>
          <p:cNvPr id="3" name="TextBox 2"/>
          <p:cNvSpPr txBox="1"/>
          <p:nvPr/>
        </p:nvSpPr>
        <p:spPr>
          <a:xfrm>
            <a:off x="502920" y="502920"/>
            <a:ext cx="10698480" cy="438912"/>
          </a:xfrm>
          <a:prstGeom prst="rect">
            <a:avLst/>
          </a:prstGeom>
          <a:noFill/>
        </p:spPr>
        <p:txBody>
          <a:bodyPr wrap="none">
            <a:spAutoFit/>
          </a:bodyPr>
          <a:lstStyle/>
          <a:p>
            <a:r>
              <a:rPr sz="2800" b="1">
                <a:solidFill>
                  <a:srgbClr val="17324D"/>
                </a:solidFill>
                <a:latin typeface="Aptos Display"/>
              </a:rPr>
              <a:t>Design basis from DIR code</a:t>
            </a:r>
          </a:p>
        </p:txBody>
      </p:sp>
      <p:sp>
        <p:nvSpPr>
          <p:cNvPr id="4" name="Rectangle 3"/>
          <p:cNvSpPr/>
          <p:nvPr/>
        </p:nvSpPr>
        <p:spPr>
          <a:xfrm>
            <a:off x="502920" y="1060704"/>
            <a:ext cx="111556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508760"/>
            <a:ext cx="3246120" cy="1216152"/>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1673352"/>
            <a:ext cx="2834640" cy="201168"/>
          </a:xfrm>
          <a:prstGeom prst="rect">
            <a:avLst/>
          </a:prstGeom>
          <a:noFill/>
        </p:spPr>
        <p:txBody>
          <a:bodyPr wrap="none">
            <a:spAutoFit/>
          </a:bodyPr>
          <a:lstStyle/>
          <a:p>
            <a:r>
              <a:rPr sz="950" b="1">
                <a:solidFill>
                  <a:srgbClr val="6B7280"/>
                </a:solidFill>
                <a:latin typeface="Aptos"/>
              </a:rPr>
              <a:t>WORKING VOLUME</a:t>
            </a:r>
          </a:p>
        </p:txBody>
      </p:sp>
      <p:sp>
        <p:nvSpPr>
          <p:cNvPr id="7" name="TextBox 6"/>
          <p:cNvSpPr txBox="1"/>
          <p:nvPr/>
        </p:nvSpPr>
        <p:spPr>
          <a:xfrm>
            <a:off x="859536" y="2002536"/>
            <a:ext cx="2788920" cy="500000"/>
          </a:xfrm>
          <a:prstGeom prst="rect">
            <a:avLst/>
          </a:prstGeom>
          <a:noFill/>
        </p:spPr>
        <p:txBody>
          <a:bodyPr wrap="square" lIns="27432" rIns="27432" tIns="18288" bIns="18288">
            <a:spAutoFit/>
          </a:bodyPr>
          <a:lstStyle/>
          <a:p>
            <a:r>
              <a:rPr sz="1400" b="1">
                <a:solidFill>
                  <a:srgbClr val="00A398"/>
                </a:solidFill>
                <a:latin typeface="Aptos"/>
              </a:rPr>
              <a:t>2,000–10,000 L</a:t>
            </a:r>
          </a:p>
        </p:txBody>
      </p:sp>
      <p:sp>
        <p:nvSpPr>
          <p:cNvPr id="8" name="Rounded Rectangle 7"/>
          <p:cNvSpPr/>
          <p:nvPr/>
        </p:nvSpPr>
        <p:spPr>
          <a:xfrm>
            <a:off x="4389120" y="1508760"/>
            <a:ext cx="3246120" cy="1216152"/>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673352"/>
            <a:ext cx="2834640" cy="201168"/>
          </a:xfrm>
          <a:prstGeom prst="rect">
            <a:avLst/>
          </a:prstGeom>
          <a:noFill/>
        </p:spPr>
        <p:txBody>
          <a:bodyPr wrap="none">
            <a:spAutoFit/>
          </a:bodyPr>
          <a:lstStyle/>
          <a:p>
            <a:r>
              <a:rPr sz="950" b="1">
                <a:solidFill>
                  <a:srgbClr val="6B7280"/>
                </a:solidFill>
                <a:latin typeface="Aptos"/>
              </a:rPr>
              <a:t>LIQUID GEOMETRY</a:t>
            </a:r>
          </a:p>
        </p:txBody>
      </p:sp>
      <p:sp>
        <p:nvSpPr>
          <p:cNvPr id="10" name="TextBox 9"/>
          <p:cNvSpPr txBox="1"/>
          <p:nvPr/>
        </p:nvSpPr>
        <p:spPr>
          <a:xfrm>
            <a:off x="4590288" y="2002536"/>
            <a:ext cx="2788920" cy="500000"/>
          </a:xfrm>
          <a:prstGeom prst="rect">
            <a:avLst/>
          </a:prstGeom>
          <a:noFill/>
        </p:spPr>
        <p:txBody>
          <a:bodyPr wrap="square" lIns="27432" rIns="27432" tIns="18288" bIns="18288">
            <a:spAutoFit/>
          </a:bodyPr>
          <a:lstStyle/>
          <a:p>
            <a:r>
              <a:rPr sz="1400" b="1">
                <a:solidFill>
                  <a:srgbClr val="17324D"/>
                </a:solidFill>
                <a:latin typeface="Aptos"/>
              </a:rPr>
              <a:t>H/D approximately 1.5:1–2:1</a:t>
            </a:r>
          </a:p>
        </p:txBody>
      </p:sp>
      <p:sp>
        <p:nvSpPr>
          <p:cNvPr id="11" name="Rounded Rectangle 10"/>
          <p:cNvSpPr/>
          <p:nvPr/>
        </p:nvSpPr>
        <p:spPr>
          <a:xfrm>
            <a:off x="8092440" y="1508760"/>
            <a:ext cx="3246120" cy="1216152"/>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93608" y="1673352"/>
            <a:ext cx="2834640" cy="201168"/>
          </a:xfrm>
          <a:prstGeom prst="rect">
            <a:avLst/>
          </a:prstGeom>
          <a:noFill/>
        </p:spPr>
        <p:txBody>
          <a:bodyPr wrap="none">
            <a:spAutoFit/>
          </a:bodyPr>
          <a:lstStyle/>
          <a:p>
            <a:r>
              <a:rPr sz="950" b="1">
                <a:solidFill>
                  <a:srgbClr val="6B7280"/>
                </a:solidFill>
                <a:latin typeface="Aptos"/>
              </a:rPr>
              <a:t>POWDER LOADING</a:t>
            </a:r>
          </a:p>
        </p:txBody>
      </p:sp>
      <p:sp>
        <p:nvSpPr>
          <p:cNvPr id="13" name="TextBox 12"/>
          <p:cNvSpPr txBox="1"/>
          <p:nvPr/>
        </p:nvSpPr>
        <p:spPr>
          <a:xfrm>
            <a:off x="8293608" y="2002536"/>
            <a:ext cx="2788920" cy="500000"/>
          </a:xfrm>
          <a:prstGeom prst="rect">
            <a:avLst/>
          </a:prstGeom>
          <a:noFill/>
        </p:spPr>
        <p:txBody>
          <a:bodyPr wrap="square" lIns="27432" rIns="27432" tIns="18288" bIns="18288">
            <a:spAutoFit/>
          </a:bodyPr>
          <a:lstStyle/>
          <a:p>
            <a:r>
              <a:rPr sz="1400" b="1">
                <a:solidFill>
                  <a:srgbClr val="00A398"/>
                </a:solidFill>
                <a:latin typeface="Aptos"/>
              </a:rPr>
              <a:t>50–150 kg/m³</a:t>
            </a:r>
          </a:p>
        </p:txBody>
      </p:sp>
      <p:sp>
        <p:nvSpPr>
          <p:cNvPr id="14" name="Rounded Rectangle 13"/>
          <p:cNvSpPr/>
          <p:nvPr/>
        </p:nvSpPr>
        <p:spPr>
          <a:xfrm>
            <a:off x="658368" y="3337560"/>
            <a:ext cx="3246120" cy="1216152"/>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502152"/>
            <a:ext cx="2834640" cy="201168"/>
          </a:xfrm>
          <a:prstGeom prst="rect">
            <a:avLst/>
          </a:prstGeom>
          <a:noFill/>
        </p:spPr>
        <p:txBody>
          <a:bodyPr wrap="none">
            <a:spAutoFit/>
          </a:bodyPr>
          <a:lstStyle/>
          <a:p>
            <a:r>
              <a:rPr sz="950" b="1">
                <a:solidFill>
                  <a:srgbClr val="6B7280"/>
                </a:solidFill>
                <a:latin typeface="Aptos"/>
              </a:rPr>
              <a:t>UNIFORMITY TARGET</a:t>
            </a:r>
          </a:p>
        </p:txBody>
      </p:sp>
      <p:sp>
        <p:nvSpPr>
          <p:cNvPr id="16" name="TextBox 15"/>
          <p:cNvSpPr txBox="1"/>
          <p:nvPr/>
        </p:nvSpPr>
        <p:spPr>
          <a:xfrm>
            <a:off x="859536" y="3831336"/>
            <a:ext cx="2788920" cy="500000"/>
          </a:xfrm>
          <a:prstGeom prst="rect">
            <a:avLst/>
          </a:prstGeom>
          <a:noFill/>
        </p:spPr>
        <p:txBody>
          <a:bodyPr wrap="square" lIns="27432" rIns="27432" tIns="18288" bIns="18288">
            <a:spAutoFit/>
          </a:bodyPr>
          <a:lstStyle/>
          <a:p>
            <a:r>
              <a:rPr sz="1400" b="1">
                <a:solidFill>
                  <a:srgbClr val="00A398"/>
                </a:solidFill>
                <a:latin typeface="Aptos"/>
              </a:rPr>
              <a:t>±2% within 15 minutes</a:t>
            </a:r>
          </a:p>
        </p:txBody>
      </p:sp>
      <p:sp>
        <p:nvSpPr>
          <p:cNvPr id="17" name="Rounded Rectangle 16"/>
          <p:cNvSpPr/>
          <p:nvPr/>
        </p:nvSpPr>
        <p:spPr>
          <a:xfrm>
            <a:off x="4389120" y="3337560"/>
            <a:ext cx="3246120" cy="1216152"/>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0288" y="3502152"/>
            <a:ext cx="2834640" cy="201168"/>
          </a:xfrm>
          <a:prstGeom prst="rect">
            <a:avLst/>
          </a:prstGeom>
          <a:noFill/>
        </p:spPr>
        <p:txBody>
          <a:bodyPr wrap="none">
            <a:spAutoFit/>
          </a:bodyPr>
          <a:lstStyle/>
          <a:p>
            <a:r>
              <a:rPr sz="950" b="1">
                <a:solidFill>
                  <a:srgbClr val="6B7280"/>
                </a:solidFill>
                <a:latin typeface="Aptos"/>
              </a:rPr>
              <a:t>OPERATING TEMPERATURE</a:t>
            </a:r>
          </a:p>
        </p:txBody>
      </p:sp>
      <p:sp>
        <p:nvSpPr>
          <p:cNvPr id="19" name="TextBox 18"/>
          <p:cNvSpPr txBox="1"/>
          <p:nvPr/>
        </p:nvSpPr>
        <p:spPr>
          <a:xfrm>
            <a:off x="4590288" y="3831336"/>
            <a:ext cx="2788920" cy="500000"/>
          </a:xfrm>
          <a:prstGeom prst="rect">
            <a:avLst/>
          </a:prstGeom>
          <a:noFill/>
        </p:spPr>
        <p:txBody>
          <a:bodyPr wrap="square" lIns="27432" rIns="27432" tIns="18288" bIns="18288">
            <a:spAutoFit/>
          </a:bodyPr>
          <a:lstStyle/>
          <a:p>
            <a:r>
              <a:rPr sz="1400" b="1">
                <a:solidFill>
                  <a:srgbClr val="17324D"/>
                </a:solidFill>
                <a:latin typeface="Aptos"/>
              </a:rPr>
              <a:t>2–80 °C</a:t>
            </a:r>
          </a:p>
        </p:txBody>
      </p:sp>
      <p:sp>
        <p:nvSpPr>
          <p:cNvPr id="20" name="Rounded Rectangle 19"/>
          <p:cNvSpPr/>
          <p:nvPr/>
        </p:nvSpPr>
        <p:spPr>
          <a:xfrm>
            <a:off x="8092440" y="3337560"/>
            <a:ext cx="3246120" cy="1216152"/>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8" y="3502152"/>
            <a:ext cx="2834640" cy="201168"/>
          </a:xfrm>
          <a:prstGeom prst="rect">
            <a:avLst/>
          </a:prstGeom>
          <a:noFill/>
        </p:spPr>
        <p:txBody>
          <a:bodyPr wrap="none">
            <a:spAutoFit/>
          </a:bodyPr>
          <a:lstStyle/>
          <a:p>
            <a:r>
              <a:rPr sz="950" b="1">
                <a:solidFill>
                  <a:srgbClr val="6B7280"/>
                </a:solidFill>
                <a:latin typeface="Aptos"/>
              </a:rPr>
              <a:t>PROCESS BOUNDARY</a:t>
            </a:r>
          </a:p>
        </p:txBody>
      </p:sp>
      <p:sp>
        <p:nvSpPr>
          <p:cNvPr id="22" name="TextBox 21"/>
          <p:cNvSpPr txBox="1"/>
          <p:nvPr/>
        </p:nvSpPr>
        <p:spPr>
          <a:xfrm>
            <a:off x="8293608" y="3831336"/>
            <a:ext cx="2788920" cy="500000"/>
          </a:xfrm>
          <a:prstGeom prst="rect">
            <a:avLst/>
          </a:prstGeom>
          <a:noFill/>
        </p:spPr>
        <p:txBody>
          <a:bodyPr wrap="square" lIns="27432" rIns="27432" tIns="18288" bIns="18288">
            <a:spAutoFit/>
          </a:bodyPr>
          <a:lstStyle/>
          <a:p>
            <a:r>
              <a:rPr sz="1400" b="1">
                <a:solidFill>
                  <a:srgbClr val="17324D"/>
                </a:solidFill>
                <a:latin typeface="Aptos"/>
              </a:rPr>
              <a:t>Closed; pressure and full vacuum</a:t>
            </a:r>
          </a:p>
        </p:txBody>
      </p:sp>
      <p:sp>
        <p:nvSpPr>
          <p:cNvPr id="23" name="TextBox 22"/>
          <p:cNvSpPr txBox="1"/>
          <p:nvPr/>
        </p:nvSpPr>
        <p:spPr>
          <a:xfrm>
            <a:off x="658368" y="5102352"/>
            <a:ext cx="2194560" cy="274320"/>
          </a:xfrm>
          <a:prstGeom prst="rect">
            <a:avLst/>
          </a:prstGeom>
          <a:noFill/>
        </p:spPr>
        <p:txBody>
          <a:bodyPr wrap="none">
            <a:spAutoFit/>
          </a:bodyPr>
          <a:lstStyle/>
          <a:p>
            <a:r>
              <a:rPr sz="1500" b="1">
                <a:solidFill>
                  <a:srgbClr val="17324D"/>
                </a:solidFill>
                <a:latin typeface="Aptos"/>
              </a:rPr>
              <a:t>Selection implication</a:t>
            </a:r>
          </a:p>
        </p:txBody>
      </p:sp>
      <p:sp>
        <p:nvSpPr>
          <p:cNvPr id="24" name="TextBox 23"/>
          <p:cNvSpPr txBox="1"/>
          <p:nvPr/>
        </p:nvSpPr>
        <p:spPr>
          <a:xfrm>
            <a:off x="2971800" y="5056632"/>
            <a:ext cx="8458200" cy="700000"/>
          </a:xfrm>
          <a:prstGeom prst="rect">
            <a:avLst/>
          </a:prstGeom>
          <a:noFill/>
        </p:spPr>
        <p:txBody>
          <a:bodyPr wrap="square" lIns="27432" rIns="27432" tIns="18288" bIns="18288">
            <a:spAutoFit/>
          </a:bodyPr>
          <a:lstStyle/>
          <a:p>
            <a:r>
              <a:rPr sz="1400" b="0">
                <a:solidFill>
                  <a:srgbClr val="1F2937"/>
                </a:solidFill>
                <a:latin typeface="Aptos"/>
              </a:rPr>
              <a:t>Tall geometry and difficult powders favor staged, low-shear axial pumping with engineered swirl control. Final power, shaft, impellers, seal, and baffles require geometry, rheology, pressure, and tri…</a:t>
            </a:r>
          </a:p>
        </p:txBody>
      </p:sp>
      <p:sp>
        <p:nvSpPr>
          <p:cNvPr id="25" name="TextBox 24"/>
          <p:cNvSpPr txBox="1"/>
          <p:nvPr/>
        </p:nvSpPr>
        <p:spPr>
          <a:xfrm>
            <a:off x="502920" y="6510528"/>
            <a:ext cx="3657600" cy="182880"/>
          </a:xfrm>
          <a:prstGeom prst="rect">
            <a:avLst/>
          </a:prstGeom>
          <a:noFill/>
        </p:spPr>
        <p:txBody>
          <a:bodyPr wrap="none">
            <a:spAutoFit/>
          </a:bodyPr>
          <a:lstStyle/>
          <a:p>
            <a:r>
              <a:rPr sz="850" b="0">
                <a:solidFill>
                  <a:srgbClr val="6B7280"/>
                </a:solidFill>
                <a:latin typeface="Aptos"/>
              </a:rPr>
              <a:t>Project-team summary • Slide 2</a:t>
            </a:r>
          </a:p>
        </p:txBody>
      </p:sp>
      <p:sp>
        <p:nvSpPr>
          <p:cNvPr id="26" name="TextBox 25"/>
          <p:cNvSpPr txBox="1"/>
          <p:nvPr/>
        </p:nvSpPr>
        <p:spPr>
          <a:xfrm>
            <a:off x="8046720" y="6510528"/>
            <a:ext cx="3657600" cy="182880"/>
          </a:xfrm>
          <a:prstGeom prst="rect">
            <a:avLst/>
          </a:prstGeom>
          <a:noFill/>
        </p:spPr>
        <p:txBody>
          <a:bodyPr wrap="none">
            <a:spAutoFit/>
          </a:bodyPr>
          <a:lstStyle/>
          <a:p>
            <a:pPr algn="r"/>
            <a:r>
              <a:rPr sz="850" b="0">
                <a:solidFill>
                  <a:srgbClr val="6B7280"/>
                </a:solidFill>
                <a:latin typeface="Aptos"/>
              </a:rPr>
              <a:t>Basis: user DIR code 3-3-3-3-3-2-3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0698480" cy="219456"/>
          </a:xfrm>
          <a:prstGeom prst="rect">
            <a:avLst/>
          </a:prstGeom>
          <a:noFill/>
        </p:spPr>
        <p:txBody>
          <a:bodyPr wrap="none">
            <a:spAutoFit/>
          </a:bodyPr>
          <a:lstStyle/>
          <a:p>
            <a:r>
              <a:rPr sz="950" b="1">
                <a:solidFill>
                  <a:srgbClr val="6B7280"/>
                </a:solidFill>
                <a:latin typeface="Aptos"/>
              </a:rPr>
              <a:t>Equipment assessment / Media Preparation Vessel</a:t>
            </a:r>
          </a:p>
        </p:txBody>
      </p:sp>
      <p:sp>
        <p:nvSpPr>
          <p:cNvPr id="3" name="TextBox 2"/>
          <p:cNvSpPr txBox="1"/>
          <p:nvPr/>
        </p:nvSpPr>
        <p:spPr>
          <a:xfrm>
            <a:off x="502920" y="502920"/>
            <a:ext cx="10698480" cy="438912"/>
          </a:xfrm>
          <a:prstGeom prst="rect">
            <a:avLst/>
          </a:prstGeom>
          <a:noFill/>
        </p:spPr>
        <p:txBody>
          <a:bodyPr wrap="none">
            <a:spAutoFit/>
          </a:bodyPr>
          <a:lstStyle/>
          <a:p>
            <a:r>
              <a:rPr sz="2800" b="1">
                <a:solidFill>
                  <a:srgbClr val="17324D"/>
                </a:solidFill>
                <a:latin typeface="Aptos Display"/>
              </a:rPr>
              <a:t>Mixing objectives, constraints and failure modes</a:t>
            </a:r>
          </a:p>
        </p:txBody>
      </p:sp>
      <p:sp>
        <p:nvSpPr>
          <p:cNvPr id="4" name="Rectangle 3"/>
          <p:cNvSpPr/>
          <p:nvPr/>
        </p:nvSpPr>
        <p:spPr>
          <a:xfrm>
            <a:off x="502920" y="1060704"/>
            <a:ext cx="111556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874520"/>
            <a:ext cx="2560320" cy="1417320"/>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8952" y="2020824"/>
            <a:ext cx="292608" cy="292608"/>
          </a:xfrm>
          <a:prstGeom prst="roundRect">
            <a:avLst>
              <a:gd name="adj" fmla="val 8000"/>
            </a:avLst>
          </a:prstGeom>
          <a:solidFill>
            <a:srgbClr val="00A3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20824"/>
            <a:ext cx="292608" cy="292608"/>
          </a:xfrm>
          <a:prstGeom prst="rect">
            <a:avLst/>
          </a:prstGeom>
          <a:noFill/>
        </p:spPr>
        <p:txBody>
          <a:bodyPr wrap="square" lIns="27432" rIns="27432" tIns="18288" bIns="18288">
            <a:spAutoFit/>
          </a:bodyPr>
          <a:lstStyle/>
          <a:p>
            <a:pPr algn="ctr"/>
            <a:r>
              <a:rPr sz="1100" b="1">
                <a:solidFill>
                  <a:srgbClr val="FFFFFF"/>
                </a:solidFill>
                <a:latin typeface="Aptos"/>
              </a:rPr>
              <a:t>1</a:t>
            </a:r>
          </a:p>
        </p:txBody>
      </p:sp>
      <p:sp>
        <p:nvSpPr>
          <p:cNvPr id="8" name="TextBox 7"/>
          <p:cNvSpPr txBox="1"/>
          <p:nvPr/>
        </p:nvSpPr>
        <p:spPr>
          <a:xfrm>
            <a:off x="1115568" y="2002248"/>
            <a:ext cx="2002536" cy="438912"/>
          </a:xfrm>
          <a:prstGeom prst="rect">
            <a:avLst/>
          </a:prstGeom>
          <a:noFill/>
        </p:spPr>
        <p:txBody>
          <a:bodyPr wrap="square" lIns="27432" rIns="27432" tIns="18288" bIns="18288">
            <a:spAutoFit/>
          </a:bodyPr>
          <a:lstStyle/>
          <a:p>
            <a:r>
              <a:rPr sz="1250" b="1">
                <a:solidFill>
                  <a:srgbClr val="17324D"/>
                </a:solidFill>
                <a:latin typeface="Aptos"/>
              </a:rPr>
              <a:t>Establish bulk circulation</a:t>
            </a:r>
          </a:p>
        </p:txBody>
      </p:sp>
      <p:sp>
        <p:nvSpPr>
          <p:cNvPr id="9" name="TextBox 8"/>
          <p:cNvSpPr txBox="1"/>
          <p:nvPr/>
        </p:nvSpPr>
        <p:spPr>
          <a:xfrm>
            <a:off x="758952" y="2494520"/>
            <a:ext cx="2359152" cy="696736"/>
          </a:xfrm>
          <a:prstGeom prst="rect">
            <a:avLst/>
          </a:prstGeom>
          <a:noFill/>
        </p:spPr>
        <p:txBody>
          <a:bodyPr wrap="square" lIns="27432" rIns="27432" tIns="18288" bIns="18288">
            <a:spAutoFit/>
          </a:bodyPr>
          <a:lstStyle/>
          <a:p>
            <a:r>
              <a:rPr sz="1100" b="0">
                <a:solidFill>
                  <a:srgbClr val="6B7280"/>
                </a:solidFill>
                <a:latin typeface="Aptos"/>
              </a:rPr>
              <a:t>Use staged axial pumping with every operating impeller submerged.</a:t>
            </a:r>
          </a:p>
        </p:txBody>
      </p:sp>
      <p:sp>
        <p:nvSpPr>
          <p:cNvPr id="10" name="Rounded Rectangle 9"/>
          <p:cNvSpPr/>
          <p:nvPr/>
        </p:nvSpPr>
        <p:spPr>
          <a:xfrm>
            <a:off x="3355848" y="1874520"/>
            <a:ext cx="2560320" cy="1417320"/>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56432" y="2020824"/>
            <a:ext cx="292608" cy="292608"/>
          </a:xfrm>
          <a:prstGeom prst="roundRect">
            <a:avLst>
              <a:gd name="adj" fmla="val 8000"/>
            </a:avLst>
          </a:prstGeom>
          <a:solidFill>
            <a:srgbClr val="00A3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56432" y="2020824"/>
            <a:ext cx="292608" cy="292608"/>
          </a:xfrm>
          <a:prstGeom prst="rect">
            <a:avLst/>
          </a:prstGeom>
          <a:noFill/>
        </p:spPr>
        <p:txBody>
          <a:bodyPr wrap="square" lIns="27432" rIns="27432" tIns="18288" bIns="18288">
            <a:spAutoFit/>
          </a:bodyPr>
          <a:lstStyle/>
          <a:p>
            <a:pPr algn="ctr"/>
            <a:r>
              <a:rPr sz="1100" b="1">
                <a:solidFill>
                  <a:srgbClr val="FFFFFF"/>
                </a:solidFill>
                <a:latin typeface="Aptos"/>
              </a:rPr>
              <a:t>2</a:t>
            </a:r>
          </a:p>
        </p:txBody>
      </p:sp>
      <p:sp>
        <p:nvSpPr>
          <p:cNvPr id="13" name="TextBox 12"/>
          <p:cNvSpPr txBox="1"/>
          <p:nvPr/>
        </p:nvSpPr>
        <p:spPr>
          <a:xfrm>
            <a:off x="3813048" y="2002248"/>
            <a:ext cx="2002536" cy="438912"/>
          </a:xfrm>
          <a:prstGeom prst="rect">
            <a:avLst/>
          </a:prstGeom>
          <a:noFill/>
        </p:spPr>
        <p:txBody>
          <a:bodyPr wrap="square" lIns="27432" rIns="27432" tIns="18288" bIns="18288">
            <a:spAutoFit/>
          </a:bodyPr>
          <a:lstStyle/>
          <a:p>
            <a:r>
              <a:rPr sz="1300" b="1">
                <a:solidFill>
                  <a:srgbClr val="17324D"/>
                </a:solidFill>
                <a:latin typeface="Aptos"/>
              </a:rPr>
              <a:t>Incorporate powder</a:t>
            </a:r>
          </a:p>
        </p:txBody>
      </p:sp>
      <p:sp>
        <p:nvSpPr>
          <p:cNvPr id="14" name="TextBox 13"/>
          <p:cNvSpPr txBox="1"/>
          <p:nvPr/>
        </p:nvSpPr>
        <p:spPr>
          <a:xfrm>
            <a:off x="3456432" y="2494520"/>
            <a:ext cx="2359152" cy="696736"/>
          </a:xfrm>
          <a:prstGeom prst="rect">
            <a:avLst/>
          </a:prstGeom>
          <a:noFill/>
        </p:spPr>
        <p:txBody>
          <a:bodyPr wrap="square" lIns="27432" rIns="27432" tIns="18288" bIns="18288">
            <a:spAutoFit/>
          </a:bodyPr>
          <a:lstStyle/>
          <a:p>
            <a:r>
              <a:rPr sz="1100" b="0">
                <a:solidFill>
                  <a:srgbClr val="6B7280"/>
                </a:solidFill>
                <a:latin typeface="Aptos"/>
              </a:rPr>
              <a:t>Feed closed and controlled above a qualified drawdown zone.</a:t>
            </a:r>
          </a:p>
        </p:txBody>
      </p:sp>
      <p:sp>
        <p:nvSpPr>
          <p:cNvPr id="15" name="Rounded Rectangle 14"/>
          <p:cNvSpPr/>
          <p:nvPr/>
        </p:nvSpPr>
        <p:spPr>
          <a:xfrm>
            <a:off x="6053328" y="1874520"/>
            <a:ext cx="2560320" cy="1417320"/>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2020824"/>
            <a:ext cx="292608" cy="292608"/>
          </a:xfrm>
          <a:prstGeom prst="roundRect">
            <a:avLst>
              <a:gd name="adj" fmla="val 8000"/>
            </a:avLst>
          </a:prstGeom>
          <a:solidFill>
            <a:srgbClr val="00A3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53912" y="2020824"/>
            <a:ext cx="292608" cy="292608"/>
          </a:xfrm>
          <a:prstGeom prst="rect">
            <a:avLst/>
          </a:prstGeom>
          <a:noFill/>
        </p:spPr>
        <p:txBody>
          <a:bodyPr wrap="square" lIns="27432" rIns="27432" tIns="18288" bIns="18288">
            <a:spAutoFit/>
          </a:bodyPr>
          <a:lstStyle/>
          <a:p>
            <a:pPr algn="ctr"/>
            <a:r>
              <a:rPr sz="1100" b="1">
                <a:solidFill>
                  <a:srgbClr val="FFFFFF"/>
                </a:solidFill>
                <a:latin typeface="Aptos"/>
              </a:rPr>
              <a:t>3</a:t>
            </a:r>
          </a:p>
        </p:txBody>
      </p:sp>
      <p:sp>
        <p:nvSpPr>
          <p:cNvPr id="18" name="TextBox 17"/>
          <p:cNvSpPr txBox="1"/>
          <p:nvPr/>
        </p:nvSpPr>
        <p:spPr>
          <a:xfrm>
            <a:off x="6510528" y="2002248"/>
            <a:ext cx="2002536" cy="438912"/>
          </a:xfrm>
          <a:prstGeom prst="rect">
            <a:avLst/>
          </a:prstGeom>
          <a:noFill/>
        </p:spPr>
        <p:txBody>
          <a:bodyPr wrap="square" lIns="27432" rIns="27432" tIns="18288" bIns="18288">
            <a:spAutoFit/>
          </a:bodyPr>
          <a:lstStyle/>
          <a:p>
            <a:r>
              <a:rPr sz="1250" b="1">
                <a:solidFill>
                  <a:srgbClr val="17324D"/>
                </a:solidFill>
                <a:latin typeface="Aptos"/>
              </a:rPr>
              <a:t>Dissolve difficult components</a:t>
            </a:r>
          </a:p>
        </p:txBody>
      </p:sp>
      <p:sp>
        <p:nvSpPr>
          <p:cNvPr id="19" name="TextBox 18"/>
          <p:cNvSpPr txBox="1"/>
          <p:nvPr/>
        </p:nvSpPr>
        <p:spPr>
          <a:xfrm>
            <a:off x="6153912" y="2494520"/>
            <a:ext cx="2359152" cy="696736"/>
          </a:xfrm>
          <a:prstGeom prst="rect">
            <a:avLst/>
          </a:prstGeom>
          <a:noFill/>
        </p:spPr>
        <p:txBody>
          <a:bodyPr wrap="square" lIns="27432" rIns="27432" tIns="18288" bIns="18288">
            <a:spAutoFit/>
          </a:bodyPr>
          <a:lstStyle/>
          <a:p>
            <a:r>
              <a:rPr sz="1100" b="0">
                <a:solidFill>
                  <a:srgbClr val="6B7280"/>
                </a:solidFill>
                <a:latin typeface="Aptos"/>
              </a:rPr>
              <a:t>Maintain turnover and temperature without unqualified high-shear exposure.</a:t>
            </a:r>
          </a:p>
        </p:txBody>
      </p:sp>
      <p:sp>
        <p:nvSpPr>
          <p:cNvPr id="20" name="Rounded Rectangle 19"/>
          <p:cNvSpPr/>
          <p:nvPr/>
        </p:nvSpPr>
        <p:spPr>
          <a:xfrm>
            <a:off x="8750808" y="1874520"/>
            <a:ext cx="2560320" cy="1417320"/>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51392" y="2020824"/>
            <a:ext cx="292608" cy="292608"/>
          </a:xfrm>
          <a:prstGeom prst="roundRect">
            <a:avLst>
              <a:gd name="adj" fmla="val 8000"/>
            </a:avLst>
          </a:prstGeom>
          <a:solidFill>
            <a:srgbClr val="00A3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51392" y="2020824"/>
            <a:ext cx="292608" cy="292608"/>
          </a:xfrm>
          <a:prstGeom prst="rect">
            <a:avLst/>
          </a:prstGeom>
          <a:noFill/>
        </p:spPr>
        <p:txBody>
          <a:bodyPr wrap="square" lIns="27432" rIns="27432" tIns="18288" bIns="18288">
            <a:spAutoFit/>
          </a:bodyPr>
          <a:lstStyle/>
          <a:p>
            <a:pPr algn="ctr"/>
            <a:r>
              <a:rPr sz="1100" b="1">
                <a:solidFill>
                  <a:srgbClr val="FFFFFF"/>
                </a:solidFill>
                <a:latin typeface="Aptos"/>
              </a:rPr>
              <a:t>4</a:t>
            </a:r>
          </a:p>
        </p:txBody>
      </p:sp>
      <p:sp>
        <p:nvSpPr>
          <p:cNvPr id="23" name="TextBox 22"/>
          <p:cNvSpPr txBox="1"/>
          <p:nvPr/>
        </p:nvSpPr>
        <p:spPr>
          <a:xfrm>
            <a:off x="9208008" y="2002248"/>
            <a:ext cx="2002536" cy="438912"/>
          </a:xfrm>
          <a:prstGeom prst="rect">
            <a:avLst/>
          </a:prstGeom>
          <a:noFill/>
        </p:spPr>
        <p:txBody>
          <a:bodyPr wrap="square" lIns="27432" rIns="27432" tIns="18288" bIns="18288">
            <a:spAutoFit/>
          </a:bodyPr>
          <a:lstStyle/>
          <a:p>
            <a:r>
              <a:rPr sz="1250" b="1">
                <a:solidFill>
                  <a:srgbClr val="17324D"/>
                </a:solidFill>
                <a:latin typeface="Aptos"/>
              </a:rPr>
              <a:t>Confirm concentration uniformity</a:t>
            </a:r>
          </a:p>
        </p:txBody>
      </p:sp>
      <p:sp>
        <p:nvSpPr>
          <p:cNvPr id="24" name="TextBox 23"/>
          <p:cNvSpPr txBox="1"/>
          <p:nvPr/>
        </p:nvSpPr>
        <p:spPr>
          <a:xfrm>
            <a:off x="8851392" y="2494520"/>
            <a:ext cx="2359152" cy="696736"/>
          </a:xfrm>
          <a:prstGeom prst="rect">
            <a:avLst/>
          </a:prstGeom>
          <a:noFill/>
        </p:spPr>
        <p:txBody>
          <a:bodyPr wrap="square" lIns="27432" rIns="27432" tIns="18288" bIns="18288">
            <a:spAutoFit/>
          </a:bodyPr>
          <a:lstStyle/>
          <a:p>
            <a:r>
              <a:rPr sz="1100" b="0">
                <a:solidFill>
                  <a:srgbClr val="6B7280"/>
                </a:solidFill>
                <a:latin typeface="Aptos"/>
              </a:rPr>
              <a:t>Sample top, middle, bottom, wall, and outlet locations.</a:t>
            </a:r>
          </a:p>
        </p:txBody>
      </p:sp>
      <p:sp>
        <p:nvSpPr>
          <p:cNvPr id="25" name="TextBox 24"/>
          <p:cNvSpPr txBox="1"/>
          <p:nvPr/>
        </p:nvSpPr>
        <p:spPr>
          <a:xfrm>
            <a:off x="658368" y="4069080"/>
            <a:ext cx="2743200" cy="320040"/>
          </a:xfrm>
          <a:prstGeom prst="rect">
            <a:avLst/>
          </a:prstGeom>
          <a:noFill/>
        </p:spPr>
        <p:txBody>
          <a:bodyPr wrap="none">
            <a:spAutoFit/>
          </a:bodyPr>
          <a:lstStyle/>
          <a:p>
            <a:r>
              <a:rPr sz="1600" b="1">
                <a:solidFill>
                  <a:srgbClr val="17324D"/>
                </a:solidFill>
                <a:latin typeface="Aptos"/>
              </a:rPr>
              <a:t>What can go wrong</a:t>
            </a:r>
          </a:p>
        </p:txBody>
      </p:sp>
      <p:sp>
        <p:nvSpPr>
          <p:cNvPr id="26" name="TextBox 25"/>
          <p:cNvSpPr txBox="1"/>
          <p:nvPr/>
        </p:nvSpPr>
        <p:spPr>
          <a:xfrm>
            <a:off x="777240" y="4590288"/>
            <a:ext cx="5394960" cy="1280160"/>
          </a:xfrm>
          <a:prstGeom prst="rect">
            <a:avLst/>
          </a:prstGeom>
          <a:noFill/>
        </p:spPr>
        <p:txBody>
          <a:bodyPr wrap="square" lIns="27432" rIns="27432" tIns="18288" bIns="18288">
            <a:spAutoFit/>
          </a:bodyPr>
          <a:lstStyle/>
          <a:p>
            <a:r>
              <a:rPr sz="1100" b="0">
                <a:solidFill>
                  <a:srgbClr val="1F2937"/>
                </a:solidFill>
                <a:latin typeface="Aptos"/>
              </a:rPr>
              <a:t>• Rapid charging causes rafting, fish-eyes, and dissolution beyond 15 minutes.</a:t>
            </a:r>
          </a:p>
          <a:p>
            <a:r>
              <a:rPr sz="1100" b="0">
                <a:solidFill>
                  <a:srgbClr val="1F2937"/>
                </a:solidFill>
                <a:latin typeface="Aptos"/>
              </a:rPr>
              <a:t>• Vortexing entrains gas, generates foam, and compromises endpoint measurements.</a:t>
            </a:r>
          </a:p>
          <a:p>
            <a:r>
              <a:rPr sz="1100" b="0">
                <a:solidFill>
                  <a:srgbClr val="1F2937"/>
                </a:solidFill>
                <a:latin typeface="Aptos"/>
              </a:rPr>
              <a:t>• Settling creates nonuniform heels, outlet blockage, and restart overload.</a:t>
            </a:r>
          </a:p>
          <a:p>
            <a:r>
              <a:rPr sz="1100" b="0">
                <a:solidFill>
                  <a:srgbClr val="1F2937"/>
                </a:solidFill>
                <a:latin typeface="Aptos"/>
              </a:rPr>
              <a:t>• Low levels uncover impellers, increasing aeration and weakening heel mixing.</a:t>
            </a:r>
          </a:p>
        </p:txBody>
      </p:sp>
      <p:sp>
        <p:nvSpPr>
          <p:cNvPr id="27" name="TextBox 26"/>
          <p:cNvSpPr txBox="1"/>
          <p:nvPr/>
        </p:nvSpPr>
        <p:spPr>
          <a:xfrm>
            <a:off x="6446520" y="4069080"/>
            <a:ext cx="2743200" cy="320040"/>
          </a:xfrm>
          <a:prstGeom prst="rect">
            <a:avLst/>
          </a:prstGeom>
          <a:noFill/>
        </p:spPr>
        <p:txBody>
          <a:bodyPr wrap="none">
            <a:spAutoFit/>
          </a:bodyPr>
          <a:lstStyle/>
          <a:p>
            <a:r>
              <a:rPr sz="1600" b="1">
                <a:solidFill>
                  <a:srgbClr val="17324D"/>
                </a:solidFill>
                <a:latin typeface="Aptos"/>
              </a:rPr>
              <a:t>Target outcome</a:t>
            </a:r>
          </a:p>
        </p:txBody>
      </p:sp>
      <p:sp>
        <p:nvSpPr>
          <p:cNvPr id="28" name="Rounded Rectangle 27"/>
          <p:cNvSpPr/>
          <p:nvPr/>
        </p:nvSpPr>
        <p:spPr>
          <a:xfrm>
            <a:off x="6492240" y="4535424"/>
            <a:ext cx="4773168" cy="1234440"/>
          </a:xfrm>
          <a:prstGeom prst="roundRect">
            <a:avLst>
              <a:gd name="adj" fmla="val 8000"/>
            </a:avLst>
          </a:prstGeom>
          <a:solidFill>
            <a:srgbClr val="E6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12280" y="4828032"/>
            <a:ext cx="4160520" cy="800000"/>
          </a:xfrm>
          <a:prstGeom prst="rect">
            <a:avLst/>
          </a:prstGeom>
          <a:noFill/>
        </p:spPr>
        <p:txBody>
          <a:bodyPr wrap="square" lIns="27432" rIns="27432" tIns="18288" bIns="18288">
            <a:spAutoFit/>
          </a:bodyPr>
          <a:lstStyle/>
          <a:p>
            <a:pPr algn="ctr"/>
            <a:r>
              <a:rPr sz="1300" b="1">
                <a:solidFill>
                  <a:srgbClr val="17324D"/>
                </a:solidFill>
                <a:latin typeface="Aptos"/>
              </a:rPr>
              <a:t>Demonstrate dissolution and ±2% uniformity within 15 minutes without unacceptable shear, foam, deposits, or cleaning residue.</a:t>
            </a:r>
          </a:p>
        </p:txBody>
      </p:sp>
      <p:sp>
        <p:nvSpPr>
          <p:cNvPr id="30" name="TextBox 29"/>
          <p:cNvSpPr txBox="1"/>
          <p:nvPr/>
        </p:nvSpPr>
        <p:spPr>
          <a:xfrm>
            <a:off x="502920" y="6510528"/>
            <a:ext cx="3657600" cy="182880"/>
          </a:xfrm>
          <a:prstGeom prst="rect">
            <a:avLst/>
          </a:prstGeom>
          <a:noFill/>
        </p:spPr>
        <p:txBody>
          <a:bodyPr wrap="none">
            <a:spAutoFit/>
          </a:bodyPr>
          <a:lstStyle/>
          <a:p>
            <a:r>
              <a:rPr sz="850" b="0">
                <a:solidFill>
                  <a:srgbClr val="6B7280"/>
                </a:solidFill>
                <a:latin typeface="Aptos"/>
              </a:rPr>
              <a:t>Project-team summary • Slide 3</a:t>
            </a:r>
          </a:p>
        </p:txBody>
      </p:sp>
      <p:sp>
        <p:nvSpPr>
          <p:cNvPr id="31" name="TextBox 30"/>
          <p:cNvSpPr txBox="1"/>
          <p:nvPr/>
        </p:nvSpPr>
        <p:spPr>
          <a:xfrm>
            <a:off x="8046720" y="6510528"/>
            <a:ext cx="3657600" cy="182880"/>
          </a:xfrm>
          <a:prstGeom prst="rect">
            <a:avLst/>
          </a:prstGeom>
          <a:noFill/>
        </p:spPr>
        <p:txBody>
          <a:bodyPr wrap="none">
            <a:spAutoFit/>
          </a:bodyPr>
          <a:lstStyle/>
          <a:p>
            <a:pPr algn="r"/>
            <a:r>
              <a:rPr sz="850" b="0">
                <a:solidFill>
                  <a:srgbClr val="6B7280"/>
                </a:solidFill>
                <a:latin typeface="Aptos"/>
              </a:rPr>
              <a:t>Basis: user DIR code 3-3-3-3-3-2-3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0698480" cy="219456"/>
          </a:xfrm>
          <a:prstGeom prst="rect">
            <a:avLst/>
          </a:prstGeom>
          <a:noFill/>
        </p:spPr>
        <p:txBody>
          <a:bodyPr wrap="none">
            <a:spAutoFit/>
          </a:bodyPr>
          <a:lstStyle/>
          <a:p>
            <a:r>
              <a:rPr sz="950" b="1">
                <a:solidFill>
                  <a:srgbClr val="6B7280"/>
                </a:solidFill>
                <a:latin typeface="Aptos"/>
              </a:rPr>
              <a:t>Equipment assessment / Media Preparation Vessel</a:t>
            </a:r>
          </a:p>
        </p:txBody>
      </p:sp>
      <p:sp>
        <p:nvSpPr>
          <p:cNvPr id="3" name="TextBox 2"/>
          <p:cNvSpPr txBox="1"/>
          <p:nvPr/>
        </p:nvSpPr>
        <p:spPr>
          <a:xfrm>
            <a:off x="502920" y="502920"/>
            <a:ext cx="10698480" cy="438912"/>
          </a:xfrm>
          <a:prstGeom prst="rect">
            <a:avLst/>
          </a:prstGeom>
          <a:noFill/>
        </p:spPr>
        <p:txBody>
          <a:bodyPr wrap="none">
            <a:spAutoFit/>
          </a:bodyPr>
          <a:lstStyle/>
          <a:p>
            <a:r>
              <a:rPr sz="2800" b="1">
                <a:solidFill>
                  <a:srgbClr val="17324D"/>
                </a:solidFill>
                <a:latin typeface="Aptos Display"/>
              </a:rPr>
              <a:t>Realistic mixing-system options</a:t>
            </a:r>
          </a:p>
        </p:txBody>
      </p:sp>
      <p:sp>
        <p:nvSpPr>
          <p:cNvPr id="4" name="Rectangle 3"/>
          <p:cNvSpPr/>
          <p:nvPr/>
        </p:nvSpPr>
        <p:spPr>
          <a:xfrm>
            <a:off x="502920" y="1060704"/>
            <a:ext cx="111556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17320"/>
            <a:ext cx="3500000" cy="237744"/>
          </a:xfrm>
          <a:prstGeom prst="rect">
            <a:avLst/>
          </a:prstGeom>
          <a:noFill/>
        </p:spPr>
        <p:txBody>
          <a:bodyPr wrap="none">
            <a:spAutoFit/>
          </a:bodyPr>
          <a:lstStyle/>
          <a:p>
            <a:r>
              <a:rPr sz="1200" b="1">
                <a:solidFill>
                  <a:srgbClr val="6B7280"/>
                </a:solidFill>
                <a:latin typeface="Aptos"/>
              </a:rPr>
              <a:t>Mixing type</a:t>
            </a:r>
          </a:p>
        </p:txBody>
      </p:sp>
      <p:sp>
        <p:nvSpPr>
          <p:cNvPr id="6" name="TextBox 5"/>
          <p:cNvSpPr txBox="1"/>
          <p:nvPr/>
        </p:nvSpPr>
        <p:spPr>
          <a:xfrm>
            <a:off x="4434840" y="1417320"/>
            <a:ext cx="2000000" cy="237744"/>
          </a:xfrm>
          <a:prstGeom prst="rect">
            <a:avLst/>
          </a:prstGeom>
          <a:noFill/>
        </p:spPr>
        <p:txBody>
          <a:bodyPr wrap="none">
            <a:spAutoFit/>
          </a:bodyPr>
          <a:lstStyle/>
          <a:p>
            <a:r>
              <a:rPr sz="1200" b="1">
                <a:solidFill>
                  <a:srgbClr val="6B7280"/>
                </a:solidFill>
                <a:latin typeface="Aptos"/>
              </a:rPr>
              <a:t>Notes</a:t>
            </a:r>
          </a:p>
        </p:txBody>
      </p:sp>
      <p:sp>
        <p:nvSpPr>
          <p:cNvPr id="7" name="TextBox 6"/>
          <p:cNvSpPr txBox="1"/>
          <p:nvPr/>
        </p:nvSpPr>
        <p:spPr>
          <a:xfrm>
            <a:off x="8915400" y="1417320"/>
            <a:ext cx="2000000" cy="237744"/>
          </a:xfrm>
          <a:prstGeom prst="rect">
            <a:avLst/>
          </a:prstGeom>
          <a:noFill/>
        </p:spPr>
        <p:txBody>
          <a:bodyPr wrap="none">
            <a:spAutoFit/>
          </a:bodyPr>
          <a:lstStyle/>
          <a:p>
            <a:r>
              <a:rPr sz="1200" b="1">
                <a:solidFill>
                  <a:srgbClr val="6B7280"/>
                </a:solidFill>
                <a:latin typeface="Aptos"/>
              </a:rPr>
              <a:t>Fit</a:t>
            </a:r>
          </a:p>
        </p:txBody>
      </p:sp>
      <p:sp>
        <p:nvSpPr>
          <p:cNvPr id="8" name="Rectangle 7"/>
          <p:cNvSpPr/>
          <p:nvPr/>
        </p:nvSpPr>
        <p:spPr>
          <a:xfrm>
            <a:off x="685800" y="1764792"/>
            <a:ext cx="950976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3600000" cy="360000"/>
          </a:xfrm>
          <a:prstGeom prst="rect">
            <a:avLst/>
          </a:prstGeom>
          <a:noFill/>
        </p:spPr>
        <p:txBody>
          <a:bodyPr wrap="square" lIns="27432" rIns="27432" tIns="18288" bIns="18288">
            <a:spAutoFit/>
          </a:bodyPr>
          <a:lstStyle/>
          <a:p>
            <a:r>
              <a:rPr sz="1200" b="1">
                <a:solidFill>
                  <a:srgbClr val="00A398"/>
                </a:solidFill>
                <a:latin typeface="Aptos"/>
              </a:rPr>
              <a:t>Top-entry hydrofoil agitator</a:t>
            </a:r>
          </a:p>
        </p:txBody>
      </p:sp>
      <p:sp>
        <p:nvSpPr>
          <p:cNvPr id="10" name="TextBox 9"/>
          <p:cNvSpPr txBox="1"/>
          <p:nvPr/>
        </p:nvSpPr>
        <p:spPr>
          <a:xfrm>
            <a:off x="4434840" y="2011680"/>
            <a:ext cx="4200000" cy="360000"/>
          </a:xfrm>
          <a:prstGeom prst="rect">
            <a:avLst/>
          </a:prstGeom>
          <a:noFill/>
        </p:spPr>
        <p:txBody>
          <a:bodyPr wrap="square" lIns="27432" rIns="27432" tIns="18288" bIns="18288">
            <a:spAutoFit/>
          </a:bodyPr>
          <a:lstStyle/>
          <a:p>
            <a:r>
              <a:rPr sz="1000" b="0">
                <a:solidFill>
                  <a:srgbClr val="1F2937"/>
                </a:solidFill>
                <a:latin typeface="Aptos"/>
              </a:rPr>
              <a:t>Best preliminary balance of axial pumping, suspension, low shear, and…</a:t>
            </a:r>
          </a:p>
        </p:txBody>
      </p:sp>
      <p:sp>
        <p:nvSpPr>
          <p:cNvPr id="11" name="TextBox 10"/>
          <p:cNvSpPr txBox="1"/>
          <p:nvPr/>
        </p:nvSpPr>
        <p:spPr>
          <a:xfrm>
            <a:off x="8915400" y="2011680"/>
            <a:ext cx="1645920" cy="360000"/>
          </a:xfrm>
          <a:prstGeom prst="rect">
            <a:avLst/>
          </a:prstGeom>
          <a:noFill/>
        </p:spPr>
        <p:txBody>
          <a:bodyPr wrap="square" lIns="27432" rIns="27432" tIns="18288" bIns="18288">
            <a:spAutoFit/>
          </a:bodyPr>
          <a:lstStyle/>
          <a:p>
            <a:pPr algn="ctr"/>
            <a:r>
              <a:rPr sz="1200" b="1">
                <a:solidFill>
                  <a:srgbClr val="00A398"/>
                </a:solidFill>
                <a:latin typeface="Aptos"/>
              </a:rPr>
              <a:t>Best</a:t>
            </a:r>
          </a:p>
        </p:txBody>
      </p:sp>
      <p:sp>
        <p:nvSpPr>
          <p:cNvPr id="12" name="TextBox 11"/>
          <p:cNvSpPr txBox="1"/>
          <p:nvPr/>
        </p:nvSpPr>
        <p:spPr>
          <a:xfrm>
            <a:off x="685800" y="2531680"/>
            <a:ext cx="3600000" cy="360000"/>
          </a:xfrm>
          <a:prstGeom prst="rect">
            <a:avLst/>
          </a:prstGeom>
          <a:noFill/>
        </p:spPr>
        <p:txBody>
          <a:bodyPr wrap="square" lIns="27432" rIns="27432" tIns="18288" bIns="18288">
            <a:spAutoFit/>
          </a:bodyPr>
          <a:lstStyle/>
          <a:p>
            <a:r>
              <a:rPr sz="1200" b="0">
                <a:solidFill>
                  <a:srgbClr val="1F2937"/>
                </a:solidFill>
                <a:latin typeface="Aptos"/>
              </a:rPr>
              <a:t>Top-entry retreat-curve agitator</a:t>
            </a:r>
          </a:p>
        </p:txBody>
      </p:sp>
      <p:sp>
        <p:nvSpPr>
          <p:cNvPr id="13" name="TextBox 12"/>
          <p:cNvSpPr txBox="1"/>
          <p:nvPr/>
        </p:nvSpPr>
        <p:spPr>
          <a:xfrm>
            <a:off x="4434840" y="2531680"/>
            <a:ext cx="4200000" cy="360000"/>
          </a:xfrm>
          <a:prstGeom prst="rect">
            <a:avLst/>
          </a:prstGeom>
          <a:noFill/>
        </p:spPr>
        <p:txBody>
          <a:bodyPr wrap="square" lIns="27432" rIns="27432" tIns="18288" bIns="18288">
            <a:spAutoFit/>
          </a:bodyPr>
          <a:lstStyle/>
          <a:p>
            <a:r>
              <a:rPr sz="1000" b="0">
                <a:solidFill>
                  <a:srgbClr val="1F2937"/>
                </a:solidFill>
                <a:latin typeface="Aptos"/>
              </a:rPr>
              <a:t>Cleanable multipurpose alternate; powder drawdown and endpoint requir…</a:t>
            </a:r>
          </a:p>
        </p:txBody>
      </p:sp>
      <p:sp>
        <p:nvSpPr>
          <p:cNvPr id="14" name="TextBox 13"/>
          <p:cNvSpPr txBox="1"/>
          <p:nvPr/>
        </p:nvSpPr>
        <p:spPr>
          <a:xfrm>
            <a:off x="8915400" y="2531680"/>
            <a:ext cx="1645920" cy="360000"/>
          </a:xfrm>
          <a:prstGeom prst="rect">
            <a:avLst/>
          </a:prstGeom>
          <a:noFill/>
        </p:spPr>
        <p:txBody>
          <a:bodyPr wrap="square" lIns="27432" rIns="27432" tIns="18288" bIns="18288">
            <a:spAutoFit/>
          </a:bodyPr>
          <a:lstStyle/>
          <a:p>
            <a:pPr algn="ctr"/>
            <a:r>
              <a:rPr sz="1200" b="0">
                <a:solidFill>
                  <a:srgbClr val="1F2937"/>
                </a:solidFill>
                <a:latin typeface="Aptos"/>
              </a:rPr>
              <a:t>Strong</a:t>
            </a:r>
          </a:p>
        </p:txBody>
      </p:sp>
      <p:sp>
        <p:nvSpPr>
          <p:cNvPr id="15" name="TextBox 14"/>
          <p:cNvSpPr txBox="1"/>
          <p:nvPr/>
        </p:nvSpPr>
        <p:spPr>
          <a:xfrm>
            <a:off x="685800" y="3051680"/>
            <a:ext cx="3600000" cy="360000"/>
          </a:xfrm>
          <a:prstGeom prst="rect">
            <a:avLst/>
          </a:prstGeom>
          <a:noFill/>
        </p:spPr>
        <p:txBody>
          <a:bodyPr wrap="square" lIns="27432" rIns="27432" tIns="18288" bIns="18288">
            <a:spAutoFit/>
          </a:bodyPr>
          <a:lstStyle/>
          <a:p>
            <a:r>
              <a:rPr sz="1200" b="0">
                <a:solidFill>
                  <a:srgbClr val="1F2937"/>
                </a:solidFill>
                <a:latin typeface="Aptos"/>
              </a:rPr>
              <a:t>Top-entry pitched-blade turbine</a:t>
            </a:r>
          </a:p>
        </p:txBody>
      </p:sp>
      <p:sp>
        <p:nvSpPr>
          <p:cNvPr id="16" name="TextBox 15"/>
          <p:cNvSpPr txBox="1"/>
          <p:nvPr/>
        </p:nvSpPr>
        <p:spPr>
          <a:xfrm>
            <a:off x="4434840" y="3051680"/>
            <a:ext cx="4200000" cy="360000"/>
          </a:xfrm>
          <a:prstGeom prst="rect">
            <a:avLst/>
          </a:prstGeom>
          <a:noFill/>
        </p:spPr>
        <p:txBody>
          <a:bodyPr wrap="square" lIns="27432" rIns="27432" tIns="18288" bIns="18288">
            <a:spAutoFit/>
          </a:bodyPr>
          <a:lstStyle/>
          <a:p>
            <a:r>
              <a:rPr sz="1000" b="0">
                <a:solidFill>
                  <a:srgbClr val="1F2937"/>
                </a:solidFill>
                <a:latin typeface="Aptos"/>
              </a:rPr>
              <a:t>Robust suspension option; higher shear, power, foam, and aeration ris…</a:t>
            </a:r>
          </a:p>
        </p:txBody>
      </p:sp>
      <p:sp>
        <p:nvSpPr>
          <p:cNvPr id="17" name="TextBox 16"/>
          <p:cNvSpPr txBox="1"/>
          <p:nvPr/>
        </p:nvSpPr>
        <p:spPr>
          <a:xfrm>
            <a:off x="8915400" y="3051680"/>
            <a:ext cx="1645920" cy="360000"/>
          </a:xfrm>
          <a:prstGeom prst="rect">
            <a:avLst/>
          </a:prstGeom>
          <a:noFill/>
        </p:spPr>
        <p:txBody>
          <a:bodyPr wrap="square" lIns="27432" rIns="27432" tIns="18288" bIns="18288">
            <a:spAutoFit/>
          </a:bodyPr>
          <a:lstStyle/>
          <a:p>
            <a:pPr algn="ctr"/>
            <a:r>
              <a:rPr sz="1200" b="0">
                <a:solidFill>
                  <a:srgbClr val="1F2937"/>
                </a:solidFill>
                <a:latin typeface="Aptos"/>
              </a:rPr>
              <a:t>Strong</a:t>
            </a:r>
          </a:p>
        </p:txBody>
      </p:sp>
      <p:sp>
        <p:nvSpPr>
          <p:cNvPr id="18" name="TextBox 17"/>
          <p:cNvSpPr txBox="1"/>
          <p:nvPr/>
        </p:nvSpPr>
        <p:spPr>
          <a:xfrm>
            <a:off x="685800" y="3571680"/>
            <a:ext cx="3600000" cy="360000"/>
          </a:xfrm>
          <a:prstGeom prst="rect">
            <a:avLst/>
          </a:prstGeom>
          <a:noFill/>
        </p:spPr>
        <p:txBody>
          <a:bodyPr wrap="square" lIns="27432" rIns="27432" tIns="18288" bIns="18288">
            <a:spAutoFit/>
          </a:bodyPr>
          <a:lstStyle/>
          <a:p>
            <a:r>
              <a:rPr sz="1200" b="0">
                <a:solidFill>
                  <a:srgbClr val="1F2937"/>
                </a:solidFill>
                <a:latin typeface="Aptos"/>
              </a:rPr>
              <a:t>Recirculating inline rotor-stator</a:t>
            </a:r>
          </a:p>
        </p:txBody>
      </p:sp>
      <p:sp>
        <p:nvSpPr>
          <p:cNvPr id="19" name="TextBox 18"/>
          <p:cNvSpPr txBox="1"/>
          <p:nvPr/>
        </p:nvSpPr>
        <p:spPr>
          <a:xfrm>
            <a:off x="4434840" y="3571680"/>
            <a:ext cx="4200000" cy="360000"/>
          </a:xfrm>
          <a:prstGeom prst="rect">
            <a:avLst/>
          </a:prstGeom>
          <a:noFill/>
        </p:spPr>
        <p:txBody>
          <a:bodyPr wrap="square" lIns="27432" rIns="27432" tIns="18288" bIns="18288">
            <a:spAutoFit/>
          </a:bodyPr>
          <a:lstStyle/>
          <a:p>
            <a:r>
              <a:rPr sz="1000" b="0">
                <a:solidFill>
                  <a:srgbClr val="1F2937"/>
                </a:solidFill>
                <a:latin typeface="Aptos"/>
              </a:rPr>
              <a:t>Optional closed powder wetting; localized shear and CIP burden requir…</a:t>
            </a:r>
          </a:p>
        </p:txBody>
      </p:sp>
      <p:sp>
        <p:nvSpPr>
          <p:cNvPr id="20" name="TextBox 19"/>
          <p:cNvSpPr txBox="1"/>
          <p:nvPr/>
        </p:nvSpPr>
        <p:spPr>
          <a:xfrm>
            <a:off x="8915400" y="3571680"/>
            <a:ext cx="1645920" cy="360000"/>
          </a:xfrm>
          <a:prstGeom prst="rect">
            <a:avLst/>
          </a:prstGeom>
          <a:noFill/>
        </p:spPr>
        <p:txBody>
          <a:bodyPr wrap="square" lIns="27432" rIns="27432" tIns="18288" bIns="18288">
            <a:spAutoFit/>
          </a:bodyPr>
          <a:lstStyle/>
          <a:p>
            <a:pPr algn="ctr"/>
            <a:r>
              <a:rPr sz="1200" b="0">
                <a:solidFill>
                  <a:srgbClr val="1F2937"/>
                </a:solidFill>
                <a:latin typeface="Aptos"/>
              </a:rPr>
              <a:t>Add-On</a:t>
            </a:r>
          </a:p>
        </p:txBody>
      </p:sp>
      <p:sp>
        <p:nvSpPr>
          <p:cNvPr id="21" name="TextBox 20"/>
          <p:cNvSpPr txBox="1"/>
          <p:nvPr/>
        </p:nvSpPr>
        <p:spPr>
          <a:xfrm>
            <a:off x="685800" y="4091680"/>
            <a:ext cx="3600000" cy="360000"/>
          </a:xfrm>
          <a:prstGeom prst="rect">
            <a:avLst/>
          </a:prstGeom>
          <a:noFill/>
        </p:spPr>
        <p:txBody>
          <a:bodyPr wrap="square" lIns="27432" rIns="27432" tIns="18288" bIns="18288">
            <a:spAutoFit/>
          </a:bodyPr>
          <a:lstStyle/>
          <a:p>
            <a:r>
              <a:rPr sz="1200" b="0">
                <a:solidFill>
                  <a:srgbClr val="1F2937"/>
                </a:solidFill>
                <a:latin typeface="Aptos"/>
              </a:rPr>
              <a:t>Bottom-entry magnetic agitator</a:t>
            </a:r>
          </a:p>
        </p:txBody>
      </p:sp>
      <p:sp>
        <p:nvSpPr>
          <p:cNvPr id="22" name="TextBox 21"/>
          <p:cNvSpPr txBox="1"/>
          <p:nvPr/>
        </p:nvSpPr>
        <p:spPr>
          <a:xfrm>
            <a:off x="4434840" y="4091680"/>
            <a:ext cx="4200000" cy="360000"/>
          </a:xfrm>
          <a:prstGeom prst="rect">
            <a:avLst/>
          </a:prstGeom>
          <a:noFill/>
        </p:spPr>
        <p:txBody>
          <a:bodyPr wrap="square" lIns="27432" rIns="27432" tIns="18288" bIns="18288">
            <a:spAutoFit/>
          </a:bodyPr>
          <a:lstStyle/>
          <a:p>
            <a:r>
              <a:rPr sz="1000" b="0">
                <a:solidFill>
                  <a:srgbClr val="1F2937"/>
                </a:solidFill>
                <a:latin typeface="Aptos"/>
              </a:rPr>
              <a:t>Seal advantage; 10,000 L torque, turnover, solids, and restart remain…</a:t>
            </a:r>
          </a:p>
        </p:txBody>
      </p:sp>
      <p:sp>
        <p:nvSpPr>
          <p:cNvPr id="23" name="TextBox 22"/>
          <p:cNvSpPr txBox="1"/>
          <p:nvPr/>
        </p:nvSpPr>
        <p:spPr>
          <a:xfrm>
            <a:off x="8915400" y="4091680"/>
            <a:ext cx="1645920" cy="360000"/>
          </a:xfrm>
          <a:prstGeom prst="rect">
            <a:avLst/>
          </a:prstGeom>
          <a:noFill/>
        </p:spPr>
        <p:txBody>
          <a:bodyPr wrap="square" lIns="27432" rIns="27432" tIns="18288" bIns="18288">
            <a:spAutoFit/>
          </a:bodyPr>
          <a:lstStyle/>
          <a:p>
            <a:pPr algn="ctr"/>
            <a:r>
              <a:rPr sz="1200" b="0">
                <a:solidFill>
                  <a:srgbClr val="1F2937"/>
                </a:solidFill>
                <a:latin typeface="Aptos"/>
              </a:rPr>
              <a:t>Conditional</a:t>
            </a:r>
          </a:p>
        </p:txBody>
      </p:sp>
      <p:sp>
        <p:nvSpPr>
          <p:cNvPr id="24" name="TextBox 23"/>
          <p:cNvSpPr txBox="1"/>
          <p:nvPr/>
        </p:nvSpPr>
        <p:spPr>
          <a:xfrm>
            <a:off x="685800" y="5600000"/>
            <a:ext cx="10400000" cy="600000"/>
          </a:xfrm>
          <a:prstGeom prst="rect">
            <a:avLst/>
          </a:prstGeom>
          <a:noFill/>
        </p:spPr>
        <p:txBody>
          <a:bodyPr wrap="square" lIns="27432" rIns="27432" tIns="18288" bIns="18288">
            <a:spAutoFit/>
          </a:bodyPr>
          <a:lstStyle/>
          <a:p>
            <a:r>
              <a:rPr sz="1300" b="1">
                <a:solidFill>
                  <a:srgbClr val="17324D"/>
                </a:solidFill>
                <a:latin typeface="Aptos"/>
              </a:rPr>
              <a:t>Recommendation: Advance staged top-entry hydrofoils as the preliminary basis; retain retreat-curve impellers as the cleanability-led alternate.</a:t>
            </a:r>
          </a:p>
        </p:txBody>
      </p:sp>
      <p:sp>
        <p:nvSpPr>
          <p:cNvPr id="25" name="TextBox 24"/>
          <p:cNvSpPr txBox="1"/>
          <p:nvPr/>
        </p:nvSpPr>
        <p:spPr>
          <a:xfrm>
            <a:off x="502920" y="6510528"/>
            <a:ext cx="3657600" cy="182880"/>
          </a:xfrm>
          <a:prstGeom prst="rect">
            <a:avLst/>
          </a:prstGeom>
          <a:noFill/>
        </p:spPr>
        <p:txBody>
          <a:bodyPr wrap="none">
            <a:spAutoFit/>
          </a:bodyPr>
          <a:lstStyle/>
          <a:p>
            <a:r>
              <a:rPr sz="850" b="0">
                <a:solidFill>
                  <a:srgbClr val="6B7280"/>
                </a:solidFill>
                <a:latin typeface="Aptos"/>
              </a:rPr>
              <a:t>Project-team summary • Slide 4</a:t>
            </a:r>
          </a:p>
        </p:txBody>
      </p:sp>
      <p:sp>
        <p:nvSpPr>
          <p:cNvPr id="26" name="TextBox 25"/>
          <p:cNvSpPr txBox="1"/>
          <p:nvPr/>
        </p:nvSpPr>
        <p:spPr>
          <a:xfrm>
            <a:off x="8046720" y="6510528"/>
            <a:ext cx="3657600" cy="182880"/>
          </a:xfrm>
          <a:prstGeom prst="rect">
            <a:avLst/>
          </a:prstGeom>
          <a:noFill/>
        </p:spPr>
        <p:txBody>
          <a:bodyPr wrap="none">
            <a:spAutoFit/>
          </a:bodyPr>
          <a:lstStyle/>
          <a:p>
            <a:pPr algn="r"/>
            <a:r>
              <a:rPr sz="850" b="0">
                <a:solidFill>
                  <a:srgbClr val="6B7280"/>
                </a:solidFill>
                <a:latin typeface="Aptos"/>
              </a:rPr>
              <a:t>Basis: user DIR code 3-3-3-3-3-2-3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0698480" cy="219456"/>
          </a:xfrm>
          <a:prstGeom prst="rect">
            <a:avLst/>
          </a:prstGeom>
          <a:noFill/>
        </p:spPr>
        <p:txBody>
          <a:bodyPr wrap="none">
            <a:spAutoFit/>
          </a:bodyPr>
          <a:lstStyle/>
          <a:p>
            <a:r>
              <a:rPr sz="950" b="1">
                <a:solidFill>
                  <a:srgbClr val="6B7280"/>
                </a:solidFill>
                <a:latin typeface="Aptos"/>
              </a:rPr>
              <a:t>Equipment assessment / Media Preparation Vessel</a:t>
            </a:r>
          </a:p>
        </p:txBody>
      </p:sp>
      <p:sp>
        <p:nvSpPr>
          <p:cNvPr id="3" name="TextBox 2"/>
          <p:cNvSpPr txBox="1"/>
          <p:nvPr/>
        </p:nvSpPr>
        <p:spPr>
          <a:xfrm>
            <a:off x="502920" y="502920"/>
            <a:ext cx="10698480" cy="438912"/>
          </a:xfrm>
          <a:prstGeom prst="rect">
            <a:avLst/>
          </a:prstGeom>
          <a:noFill/>
        </p:spPr>
        <p:txBody>
          <a:bodyPr wrap="none">
            <a:spAutoFit/>
          </a:bodyPr>
          <a:lstStyle/>
          <a:p>
            <a:r>
              <a:rPr sz="2800" b="1">
                <a:solidFill>
                  <a:srgbClr val="17324D"/>
                </a:solidFill>
                <a:latin typeface="Aptos Display"/>
              </a:rPr>
              <a:t>Option evaluation matrix</a:t>
            </a:r>
          </a:p>
        </p:txBody>
      </p:sp>
      <p:sp>
        <p:nvSpPr>
          <p:cNvPr id="4" name="Rectangle 3"/>
          <p:cNvSpPr/>
          <p:nvPr/>
        </p:nvSpPr>
        <p:spPr>
          <a:xfrm>
            <a:off x="502920" y="1060704"/>
            <a:ext cx="111556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17320"/>
            <a:ext cx="2800000" cy="237744"/>
          </a:xfrm>
          <a:prstGeom prst="rect">
            <a:avLst/>
          </a:prstGeom>
          <a:noFill/>
        </p:spPr>
        <p:txBody>
          <a:bodyPr wrap="none">
            <a:spAutoFit/>
          </a:bodyPr>
          <a:lstStyle/>
          <a:p>
            <a:r>
              <a:rPr sz="1100" b="1">
                <a:solidFill>
                  <a:srgbClr val="6B7280"/>
                </a:solidFill>
                <a:latin typeface="Aptos"/>
              </a:rPr>
              <a:t>Option</a:t>
            </a:r>
          </a:p>
        </p:txBody>
      </p:sp>
      <p:sp>
        <p:nvSpPr>
          <p:cNvPr id="6" name="TextBox 5"/>
          <p:cNvSpPr txBox="1"/>
          <p:nvPr/>
        </p:nvSpPr>
        <p:spPr>
          <a:xfrm>
            <a:off x="3600000" y="1417320"/>
            <a:ext cx="1400000" cy="237744"/>
          </a:xfrm>
          <a:prstGeom prst="rect">
            <a:avLst/>
          </a:prstGeom>
          <a:noFill/>
        </p:spPr>
        <p:txBody>
          <a:bodyPr wrap="none">
            <a:spAutoFit/>
          </a:bodyPr>
          <a:lstStyle/>
          <a:p>
            <a:r>
              <a:rPr sz="1100" b="1">
                <a:solidFill>
                  <a:srgbClr val="6B7280"/>
                </a:solidFill>
                <a:latin typeface="Aptos"/>
              </a:rPr>
              <a:t>Technical</a:t>
            </a:r>
          </a:p>
        </p:txBody>
      </p:sp>
      <p:sp>
        <p:nvSpPr>
          <p:cNvPr id="7" name="TextBox 6"/>
          <p:cNvSpPr txBox="1"/>
          <p:nvPr/>
        </p:nvSpPr>
        <p:spPr>
          <a:xfrm>
            <a:off x="5100000" y="1417320"/>
            <a:ext cx="1000000" cy="237744"/>
          </a:xfrm>
          <a:prstGeom prst="rect">
            <a:avLst/>
          </a:prstGeom>
          <a:noFill/>
        </p:spPr>
        <p:txBody>
          <a:bodyPr wrap="none">
            <a:spAutoFit/>
          </a:bodyPr>
          <a:lstStyle/>
          <a:p>
            <a:r>
              <a:rPr sz="1100" b="1">
                <a:solidFill>
                  <a:srgbClr val="6B7280"/>
                </a:solidFill>
                <a:latin typeface="Aptos"/>
              </a:rPr>
              <a:t>GMP</a:t>
            </a:r>
          </a:p>
        </p:txBody>
      </p:sp>
      <p:sp>
        <p:nvSpPr>
          <p:cNvPr id="8" name="TextBox 7"/>
          <p:cNvSpPr txBox="1"/>
          <p:nvPr/>
        </p:nvSpPr>
        <p:spPr>
          <a:xfrm>
            <a:off x="6200000" y="1417320"/>
            <a:ext cx="1200000" cy="237744"/>
          </a:xfrm>
          <a:prstGeom prst="rect">
            <a:avLst/>
          </a:prstGeom>
          <a:noFill/>
        </p:spPr>
        <p:txBody>
          <a:bodyPr wrap="none">
            <a:spAutoFit/>
          </a:bodyPr>
          <a:lstStyle/>
          <a:p>
            <a:r>
              <a:rPr sz="1100" b="1">
                <a:solidFill>
                  <a:srgbClr val="6B7280"/>
                </a:solidFill>
                <a:latin typeface="Aptos"/>
              </a:rPr>
              <a:t>Scale-up</a:t>
            </a:r>
          </a:p>
        </p:txBody>
      </p:sp>
      <p:sp>
        <p:nvSpPr>
          <p:cNvPr id="9" name="TextBox 8"/>
          <p:cNvSpPr txBox="1"/>
          <p:nvPr/>
        </p:nvSpPr>
        <p:spPr>
          <a:xfrm>
            <a:off x="7500000" y="1417320"/>
            <a:ext cx="1200000" cy="237744"/>
          </a:xfrm>
          <a:prstGeom prst="rect">
            <a:avLst/>
          </a:prstGeom>
          <a:noFill/>
        </p:spPr>
        <p:txBody>
          <a:bodyPr wrap="none">
            <a:spAutoFit/>
          </a:bodyPr>
          <a:lstStyle/>
          <a:p>
            <a:r>
              <a:rPr sz="1100" b="1">
                <a:solidFill>
                  <a:srgbClr val="6B7280"/>
                </a:solidFill>
                <a:latin typeface="Aptos"/>
              </a:rPr>
              <a:t>Cost</a:t>
            </a:r>
          </a:p>
        </p:txBody>
      </p:sp>
      <p:sp>
        <p:nvSpPr>
          <p:cNvPr id="10" name="TextBox 9"/>
          <p:cNvSpPr txBox="1"/>
          <p:nvPr/>
        </p:nvSpPr>
        <p:spPr>
          <a:xfrm>
            <a:off x="8800000" y="1417320"/>
            <a:ext cx="1200000" cy="237744"/>
          </a:xfrm>
          <a:prstGeom prst="rect">
            <a:avLst/>
          </a:prstGeom>
          <a:noFill/>
        </p:spPr>
        <p:txBody>
          <a:bodyPr wrap="none">
            <a:spAutoFit/>
          </a:bodyPr>
          <a:lstStyle/>
          <a:p>
            <a:r>
              <a:rPr sz="1100" b="1">
                <a:solidFill>
                  <a:srgbClr val="6B7280"/>
                </a:solidFill>
                <a:latin typeface="Aptos"/>
              </a:rPr>
              <a:t>Reliability</a:t>
            </a:r>
          </a:p>
        </p:txBody>
      </p:sp>
      <p:sp>
        <p:nvSpPr>
          <p:cNvPr id="11" name="TextBox 10"/>
          <p:cNvSpPr txBox="1"/>
          <p:nvPr/>
        </p:nvSpPr>
        <p:spPr>
          <a:xfrm>
            <a:off x="10100000" y="1417320"/>
            <a:ext cx="800000" cy="237744"/>
          </a:xfrm>
          <a:prstGeom prst="rect">
            <a:avLst/>
          </a:prstGeom>
          <a:noFill/>
        </p:spPr>
        <p:txBody>
          <a:bodyPr wrap="none">
            <a:spAutoFit/>
          </a:bodyPr>
          <a:lstStyle/>
          <a:p>
            <a:r>
              <a:rPr sz="1100" b="1">
                <a:solidFill>
                  <a:srgbClr val="6B7280"/>
                </a:solidFill>
                <a:latin typeface="Aptos"/>
              </a:rPr>
              <a:t>Rank</a:t>
            </a:r>
          </a:p>
        </p:txBody>
      </p:sp>
      <p:sp>
        <p:nvSpPr>
          <p:cNvPr id="12" name="Rectangle 11"/>
          <p:cNvSpPr/>
          <p:nvPr/>
        </p:nvSpPr>
        <p:spPr>
          <a:xfrm>
            <a:off x="685800" y="1764792"/>
            <a:ext cx="1040000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11680"/>
            <a:ext cx="2800000" cy="340000"/>
          </a:xfrm>
          <a:prstGeom prst="rect">
            <a:avLst/>
          </a:prstGeom>
          <a:noFill/>
        </p:spPr>
        <p:txBody>
          <a:bodyPr wrap="square" lIns="27432" rIns="27432" tIns="18288" bIns="18288">
            <a:spAutoFit/>
          </a:bodyPr>
          <a:lstStyle/>
          <a:p>
            <a:r>
              <a:rPr sz="1100" b="1">
                <a:solidFill>
                  <a:srgbClr val="00A398"/>
                </a:solidFill>
                <a:latin typeface="Aptos"/>
              </a:rPr>
              <a:t>Top-entry hydrofoil agitator</a:t>
            </a:r>
          </a:p>
        </p:txBody>
      </p:sp>
      <p:sp>
        <p:nvSpPr>
          <p:cNvPr id="14" name="TextBox 13"/>
          <p:cNvSpPr txBox="1"/>
          <p:nvPr/>
        </p:nvSpPr>
        <p:spPr>
          <a:xfrm>
            <a:off x="3600000" y="2011680"/>
            <a:ext cx="1400000" cy="340000"/>
          </a:xfrm>
          <a:prstGeom prst="rect">
            <a:avLst/>
          </a:prstGeom>
          <a:noFill/>
        </p:spPr>
        <p:txBody>
          <a:bodyPr wrap="square" lIns="27432" rIns="27432" tIns="18288" bIns="18288">
            <a:spAutoFit/>
          </a:bodyPr>
          <a:lstStyle/>
          <a:p>
            <a:r>
              <a:rPr sz="1100" b="0">
                <a:solidFill>
                  <a:srgbClr val="1F2937"/>
                </a:solidFill>
                <a:latin typeface="Aptos"/>
              </a:rPr>
              <a:t>Best</a:t>
            </a:r>
          </a:p>
        </p:txBody>
      </p:sp>
      <p:sp>
        <p:nvSpPr>
          <p:cNvPr id="15" name="TextBox 14"/>
          <p:cNvSpPr txBox="1"/>
          <p:nvPr/>
        </p:nvSpPr>
        <p:spPr>
          <a:xfrm>
            <a:off x="5100000" y="2011680"/>
            <a:ext cx="1000000" cy="340000"/>
          </a:xfrm>
          <a:prstGeom prst="rect">
            <a:avLst/>
          </a:prstGeom>
          <a:noFill/>
        </p:spPr>
        <p:txBody>
          <a:bodyPr wrap="square" lIns="27432" rIns="27432" tIns="18288" bIns="18288">
            <a:spAutoFit/>
          </a:bodyPr>
          <a:lstStyle/>
          <a:p>
            <a:r>
              <a:rPr sz="1100" b="0">
                <a:solidFill>
                  <a:srgbClr val="1F2937"/>
                </a:solidFill>
                <a:latin typeface="Aptos"/>
              </a:rPr>
              <a:t>High</a:t>
            </a:r>
          </a:p>
        </p:txBody>
      </p:sp>
      <p:sp>
        <p:nvSpPr>
          <p:cNvPr id="16" name="TextBox 15"/>
          <p:cNvSpPr txBox="1"/>
          <p:nvPr/>
        </p:nvSpPr>
        <p:spPr>
          <a:xfrm>
            <a:off x="6200000" y="2011680"/>
            <a:ext cx="1200000" cy="340000"/>
          </a:xfrm>
          <a:prstGeom prst="rect">
            <a:avLst/>
          </a:prstGeom>
          <a:noFill/>
        </p:spPr>
        <p:txBody>
          <a:bodyPr wrap="square" lIns="27432" rIns="27432" tIns="18288" bIns="18288">
            <a:spAutoFit/>
          </a:bodyPr>
          <a:lstStyle/>
          <a:p>
            <a:r>
              <a:rPr sz="1100" b="0">
                <a:solidFill>
                  <a:srgbClr val="1F2937"/>
                </a:solidFill>
                <a:latin typeface="Aptos"/>
              </a:rPr>
              <a:t>Low-Medium</a:t>
            </a:r>
          </a:p>
        </p:txBody>
      </p:sp>
      <p:sp>
        <p:nvSpPr>
          <p:cNvPr id="17" name="TextBox 16"/>
          <p:cNvSpPr txBox="1"/>
          <p:nvPr/>
        </p:nvSpPr>
        <p:spPr>
          <a:xfrm>
            <a:off x="7500000" y="2011680"/>
            <a:ext cx="1200000" cy="340000"/>
          </a:xfrm>
          <a:prstGeom prst="rect">
            <a:avLst/>
          </a:prstGeom>
          <a:noFill/>
        </p:spPr>
        <p:txBody>
          <a:bodyPr wrap="square" lIns="27432" rIns="27432" tIns="18288" bIns="18288">
            <a:spAutoFit/>
          </a:bodyPr>
          <a:lstStyle/>
          <a:p>
            <a:r>
              <a:rPr sz="1100" b="0">
                <a:solidFill>
                  <a:srgbClr val="1F2937"/>
                </a:solidFill>
                <a:latin typeface="Aptos"/>
              </a:rPr>
              <a:t>Strong</a:t>
            </a:r>
          </a:p>
        </p:txBody>
      </p:sp>
      <p:sp>
        <p:nvSpPr>
          <p:cNvPr id="18" name="TextBox 17"/>
          <p:cNvSpPr txBox="1"/>
          <p:nvPr/>
        </p:nvSpPr>
        <p:spPr>
          <a:xfrm>
            <a:off x="8800000" y="2011680"/>
            <a:ext cx="1200000" cy="340000"/>
          </a:xfrm>
          <a:prstGeom prst="rect">
            <a:avLst/>
          </a:prstGeom>
          <a:noFill/>
        </p:spPr>
        <p:txBody>
          <a:bodyPr wrap="square" lIns="27432" rIns="27432" tIns="18288" bIns="18288">
            <a:spAutoFit/>
          </a:bodyPr>
          <a:lstStyle/>
          <a:p>
            <a:r>
              <a:rPr sz="1100" b="0">
                <a:solidFill>
                  <a:srgbClr val="1F2937"/>
                </a:solidFill>
                <a:latin typeface="Aptos"/>
              </a:rPr>
              <a:t>High</a:t>
            </a:r>
          </a:p>
        </p:txBody>
      </p:sp>
      <p:sp>
        <p:nvSpPr>
          <p:cNvPr id="19" name="TextBox 18"/>
          <p:cNvSpPr txBox="1"/>
          <p:nvPr/>
        </p:nvSpPr>
        <p:spPr>
          <a:xfrm>
            <a:off x="10100000" y="2011680"/>
            <a:ext cx="800000" cy="340000"/>
          </a:xfrm>
          <a:prstGeom prst="rect">
            <a:avLst/>
          </a:prstGeom>
          <a:noFill/>
        </p:spPr>
        <p:txBody>
          <a:bodyPr wrap="square" lIns="27432" rIns="27432" tIns="18288" bIns="18288">
            <a:spAutoFit/>
          </a:bodyPr>
          <a:lstStyle/>
          <a:p>
            <a:r>
              <a:rPr sz="1100" b="0">
                <a:solidFill>
                  <a:srgbClr val="1F2937"/>
                </a:solidFill>
                <a:latin typeface="Aptos"/>
              </a:rPr>
              <a:t>1</a:t>
            </a:r>
          </a:p>
        </p:txBody>
      </p:sp>
      <p:sp>
        <p:nvSpPr>
          <p:cNvPr id="20" name="TextBox 19"/>
          <p:cNvSpPr txBox="1"/>
          <p:nvPr/>
        </p:nvSpPr>
        <p:spPr>
          <a:xfrm>
            <a:off x="685800" y="2491680"/>
            <a:ext cx="2800000" cy="340000"/>
          </a:xfrm>
          <a:prstGeom prst="rect">
            <a:avLst/>
          </a:prstGeom>
          <a:noFill/>
        </p:spPr>
        <p:txBody>
          <a:bodyPr wrap="square" lIns="27432" rIns="27432" tIns="18288" bIns="18288">
            <a:spAutoFit/>
          </a:bodyPr>
          <a:lstStyle/>
          <a:p>
            <a:r>
              <a:rPr sz="1100" b="0">
                <a:solidFill>
                  <a:srgbClr val="1F2937"/>
                </a:solidFill>
                <a:latin typeface="Aptos"/>
              </a:rPr>
              <a:t>Top-entry retreat-curve agitator</a:t>
            </a:r>
          </a:p>
        </p:txBody>
      </p:sp>
      <p:sp>
        <p:nvSpPr>
          <p:cNvPr id="21" name="TextBox 20"/>
          <p:cNvSpPr txBox="1"/>
          <p:nvPr/>
        </p:nvSpPr>
        <p:spPr>
          <a:xfrm>
            <a:off x="3600000" y="2491680"/>
            <a:ext cx="1400000" cy="340000"/>
          </a:xfrm>
          <a:prstGeom prst="rect">
            <a:avLst/>
          </a:prstGeom>
          <a:noFill/>
        </p:spPr>
        <p:txBody>
          <a:bodyPr wrap="square" lIns="27432" rIns="27432" tIns="18288" bIns="18288">
            <a:spAutoFit/>
          </a:bodyPr>
          <a:lstStyle/>
          <a:p>
            <a:r>
              <a:rPr sz="1100" b="0">
                <a:solidFill>
                  <a:srgbClr val="1F2937"/>
                </a:solidFill>
                <a:latin typeface="Aptos"/>
              </a:rPr>
              <a:t>Strong</a:t>
            </a:r>
          </a:p>
        </p:txBody>
      </p:sp>
      <p:sp>
        <p:nvSpPr>
          <p:cNvPr id="22" name="TextBox 21"/>
          <p:cNvSpPr txBox="1"/>
          <p:nvPr/>
        </p:nvSpPr>
        <p:spPr>
          <a:xfrm>
            <a:off x="5100000" y="2491680"/>
            <a:ext cx="1000000" cy="340000"/>
          </a:xfrm>
          <a:prstGeom prst="rect">
            <a:avLst/>
          </a:prstGeom>
          <a:noFill/>
        </p:spPr>
        <p:txBody>
          <a:bodyPr wrap="square" lIns="27432" rIns="27432" tIns="18288" bIns="18288">
            <a:spAutoFit/>
          </a:bodyPr>
          <a:lstStyle/>
          <a:p>
            <a:r>
              <a:rPr sz="1100" b="0">
                <a:solidFill>
                  <a:srgbClr val="1F2937"/>
                </a:solidFill>
                <a:latin typeface="Aptos"/>
              </a:rPr>
              <a:t>High</a:t>
            </a:r>
          </a:p>
        </p:txBody>
      </p:sp>
      <p:sp>
        <p:nvSpPr>
          <p:cNvPr id="23" name="TextBox 22"/>
          <p:cNvSpPr txBox="1"/>
          <p:nvPr/>
        </p:nvSpPr>
        <p:spPr>
          <a:xfrm>
            <a:off x="6200000" y="2491680"/>
            <a:ext cx="1200000" cy="340000"/>
          </a:xfrm>
          <a:prstGeom prst="rect">
            <a:avLst/>
          </a:prstGeom>
          <a:noFill/>
        </p:spPr>
        <p:txBody>
          <a:bodyPr wrap="square" lIns="27432" rIns="27432" tIns="18288" bIns="18288">
            <a:spAutoFit/>
          </a:bodyPr>
          <a:lstStyle/>
          <a:p>
            <a:r>
              <a:rPr sz="1100" b="0">
                <a:solidFill>
                  <a:srgbClr val="1F2937"/>
                </a:solidFill>
                <a:latin typeface="Aptos"/>
              </a:rPr>
              <a:t>Medium</a:t>
            </a:r>
          </a:p>
        </p:txBody>
      </p:sp>
      <p:sp>
        <p:nvSpPr>
          <p:cNvPr id="24" name="TextBox 23"/>
          <p:cNvSpPr txBox="1"/>
          <p:nvPr/>
        </p:nvSpPr>
        <p:spPr>
          <a:xfrm>
            <a:off x="7500000" y="2491680"/>
            <a:ext cx="1200000" cy="340000"/>
          </a:xfrm>
          <a:prstGeom prst="rect">
            <a:avLst/>
          </a:prstGeom>
          <a:noFill/>
        </p:spPr>
        <p:txBody>
          <a:bodyPr wrap="square" lIns="27432" rIns="27432" tIns="18288" bIns="18288">
            <a:spAutoFit/>
          </a:bodyPr>
          <a:lstStyle/>
          <a:p>
            <a:r>
              <a:rPr sz="1100" b="0">
                <a:solidFill>
                  <a:srgbClr val="1F2937"/>
                </a:solidFill>
                <a:latin typeface="Aptos"/>
              </a:rPr>
              <a:t>Strong</a:t>
            </a:r>
          </a:p>
        </p:txBody>
      </p:sp>
      <p:sp>
        <p:nvSpPr>
          <p:cNvPr id="25" name="TextBox 24"/>
          <p:cNvSpPr txBox="1"/>
          <p:nvPr/>
        </p:nvSpPr>
        <p:spPr>
          <a:xfrm>
            <a:off x="8800000" y="2491680"/>
            <a:ext cx="1200000" cy="340000"/>
          </a:xfrm>
          <a:prstGeom prst="rect">
            <a:avLst/>
          </a:prstGeom>
          <a:noFill/>
        </p:spPr>
        <p:txBody>
          <a:bodyPr wrap="square" lIns="27432" rIns="27432" tIns="18288" bIns="18288">
            <a:spAutoFit/>
          </a:bodyPr>
          <a:lstStyle/>
          <a:p>
            <a:r>
              <a:rPr sz="1100" b="0">
                <a:solidFill>
                  <a:srgbClr val="1F2937"/>
                </a:solidFill>
                <a:latin typeface="Aptos"/>
              </a:rPr>
              <a:t>High</a:t>
            </a:r>
          </a:p>
        </p:txBody>
      </p:sp>
      <p:sp>
        <p:nvSpPr>
          <p:cNvPr id="26" name="TextBox 25"/>
          <p:cNvSpPr txBox="1"/>
          <p:nvPr/>
        </p:nvSpPr>
        <p:spPr>
          <a:xfrm>
            <a:off x="10100000" y="2491680"/>
            <a:ext cx="800000" cy="340000"/>
          </a:xfrm>
          <a:prstGeom prst="rect">
            <a:avLst/>
          </a:prstGeom>
          <a:noFill/>
        </p:spPr>
        <p:txBody>
          <a:bodyPr wrap="square" lIns="27432" rIns="27432" tIns="18288" bIns="18288">
            <a:spAutoFit/>
          </a:bodyPr>
          <a:lstStyle/>
          <a:p>
            <a:r>
              <a:rPr sz="1100" b="0">
                <a:solidFill>
                  <a:srgbClr val="1F2937"/>
                </a:solidFill>
                <a:latin typeface="Aptos"/>
              </a:rPr>
              <a:t>2</a:t>
            </a:r>
          </a:p>
        </p:txBody>
      </p:sp>
      <p:sp>
        <p:nvSpPr>
          <p:cNvPr id="27" name="TextBox 26"/>
          <p:cNvSpPr txBox="1"/>
          <p:nvPr/>
        </p:nvSpPr>
        <p:spPr>
          <a:xfrm>
            <a:off x="685800" y="2971680"/>
            <a:ext cx="2800000" cy="340000"/>
          </a:xfrm>
          <a:prstGeom prst="rect">
            <a:avLst/>
          </a:prstGeom>
          <a:noFill/>
        </p:spPr>
        <p:txBody>
          <a:bodyPr wrap="square" lIns="27432" rIns="27432" tIns="18288" bIns="18288">
            <a:spAutoFit/>
          </a:bodyPr>
          <a:lstStyle/>
          <a:p>
            <a:r>
              <a:rPr sz="1100" b="0">
                <a:solidFill>
                  <a:srgbClr val="1F2937"/>
                </a:solidFill>
                <a:latin typeface="Aptos"/>
              </a:rPr>
              <a:t>Top-entry pitched-blade turbine</a:t>
            </a:r>
          </a:p>
        </p:txBody>
      </p:sp>
      <p:sp>
        <p:nvSpPr>
          <p:cNvPr id="28" name="TextBox 27"/>
          <p:cNvSpPr txBox="1"/>
          <p:nvPr/>
        </p:nvSpPr>
        <p:spPr>
          <a:xfrm>
            <a:off x="3600000" y="2971680"/>
            <a:ext cx="1400000" cy="340000"/>
          </a:xfrm>
          <a:prstGeom prst="rect">
            <a:avLst/>
          </a:prstGeom>
          <a:noFill/>
        </p:spPr>
        <p:txBody>
          <a:bodyPr wrap="square" lIns="27432" rIns="27432" tIns="18288" bIns="18288">
            <a:spAutoFit/>
          </a:bodyPr>
          <a:lstStyle/>
          <a:p>
            <a:r>
              <a:rPr sz="1100" b="0">
                <a:solidFill>
                  <a:srgbClr val="1F2937"/>
                </a:solidFill>
                <a:latin typeface="Aptos"/>
              </a:rPr>
              <a:t>Strong</a:t>
            </a:r>
          </a:p>
        </p:txBody>
      </p:sp>
      <p:sp>
        <p:nvSpPr>
          <p:cNvPr id="29" name="TextBox 28"/>
          <p:cNvSpPr txBox="1"/>
          <p:nvPr/>
        </p:nvSpPr>
        <p:spPr>
          <a:xfrm>
            <a:off x="5100000" y="2971680"/>
            <a:ext cx="1000000" cy="340000"/>
          </a:xfrm>
          <a:prstGeom prst="rect">
            <a:avLst/>
          </a:prstGeom>
          <a:noFill/>
        </p:spPr>
        <p:txBody>
          <a:bodyPr wrap="square" lIns="27432" rIns="27432" tIns="18288" bIns="18288">
            <a:spAutoFit/>
          </a:bodyPr>
          <a:lstStyle/>
          <a:p>
            <a:r>
              <a:rPr sz="1100" b="0">
                <a:solidFill>
                  <a:srgbClr val="1F2937"/>
                </a:solidFill>
                <a:latin typeface="Aptos"/>
              </a:rPr>
              <a:t>High</a:t>
            </a:r>
          </a:p>
        </p:txBody>
      </p:sp>
      <p:sp>
        <p:nvSpPr>
          <p:cNvPr id="30" name="TextBox 29"/>
          <p:cNvSpPr txBox="1"/>
          <p:nvPr/>
        </p:nvSpPr>
        <p:spPr>
          <a:xfrm>
            <a:off x="6200000" y="2971680"/>
            <a:ext cx="1200000" cy="340000"/>
          </a:xfrm>
          <a:prstGeom prst="rect">
            <a:avLst/>
          </a:prstGeom>
          <a:noFill/>
        </p:spPr>
        <p:txBody>
          <a:bodyPr wrap="square" lIns="27432" rIns="27432" tIns="18288" bIns="18288">
            <a:spAutoFit/>
          </a:bodyPr>
          <a:lstStyle/>
          <a:p>
            <a:r>
              <a:rPr sz="1100" b="0">
                <a:solidFill>
                  <a:srgbClr val="1F2937"/>
                </a:solidFill>
                <a:latin typeface="Aptos"/>
              </a:rPr>
              <a:t>Medium</a:t>
            </a:r>
          </a:p>
        </p:txBody>
      </p:sp>
      <p:sp>
        <p:nvSpPr>
          <p:cNvPr id="31" name="TextBox 30"/>
          <p:cNvSpPr txBox="1"/>
          <p:nvPr/>
        </p:nvSpPr>
        <p:spPr>
          <a:xfrm>
            <a:off x="7500000" y="2971680"/>
            <a:ext cx="1200000" cy="340000"/>
          </a:xfrm>
          <a:prstGeom prst="rect">
            <a:avLst/>
          </a:prstGeom>
          <a:noFill/>
        </p:spPr>
        <p:txBody>
          <a:bodyPr wrap="square" lIns="27432" rIns="27432" tIns="18288" bIns="18288">
            <a:spAutoFit/>
          </a:bodyPr>
          <a:lstStyle/>
          <a:p>
            <a:r>
              <a:rPr sz="1100" b="0">
                <a:solidFill>
                  <a:srgbClr val="1F2937"/>
                </a:solidFill>
                <a:latin typeface="Aptos"/>
              </a:rPr>
              <a:t>Best</a:t>
            </a:r>
          </a:p>
        </p:txBody>
      </p:sp>
      <p:sp>
        <p:nvSpPr>
          <p:cNvPr id="32" name="TextBox 31"/>
          <p:cNvSpPr txBox="1"/>
          <p:nvPr/>
        </p:nvSpPr>
        <p:spPr>
          <a:xfrm>
            <a:off x="8800000" y="2971680"/>
            <a:ext cx="1200000" cy="340000"/>
          </a:xfrm>
          <a:prstGeom prst="rect">
            <a:avLst/>
          </a:prstGeom>
          <a:noFill/>
        </p:spPr>
        <p:txBody>
          <a:bodyPr wrap="square" lIns="27432" rIns="27432" tIns="18288" bIns="18288">
            <a:spAutoFit/>
          </a:bodyPr>
          <a:lstStyle/>
          <a:p>
            <a:r>
              <a:rPr sz="1100" b="0">
                <a:solidFill>
                  <a:srgbClr val="1F2937"/>
                </a:solidFill>
                <a:latin typeface="Aptos"/>
              </a:rPr>
              <a:t>High</a:t>
            </a:r>
          </a:p>
        </p:txBody>
      </p:sp>
      <p:sp>
        <p:nvSpPr>
          <p:cNvPr id="33" name="TextBox 32"/>
          <p:cNvSpPr txBox="1"/>
          <p:nvPr/>
        </p:nvSpPr>
        <p:spPr>
          <a:xfrm>
            <a:off x="10100000" y="2971680"/>
            <a:ext cx="800000" cy="340000"/>
          </a:xfrm>
          <a:prstGeom prst="rect">
            <a:avLst/>
          </a:prstGeom>
          <a:noFill/>
        </p:spPr>
        <p:txBody>
          <a:bodyPr wrap="square" lIns="27432" rIns="27432" tIns="18288" bIns="18288">
            <a:spAutoFit/>
          </a:bodyPr>
          <a:lstStyle/>
          <a:p>
            <a:r>
              <a:rPr sz="1100" b="0">
                <a:solidFill>
                  <a:srgbClr val="1F2937"/>
                </a:solidFill>
                <a:latin typeface="Aptos"/>
              </a:rPr>
              <a:t>3</a:t>
            </a:r>
          </a:p>
        </p:txBody>
      </p:sp>
      <p:sp>
        <p:nvSpPr>
          <p:cNvPr id="34" name="TextBox 33"/>
          <p:cNvSpPr txBox="1"/>
          <p:nvPr/>
        </p:nvSpPr>
        <p:spPr>
          <a:xfrm>
            <a:off x="685800" y="3451680"/>
            <a:ext cx="2800000" cy="340000"/>
          </a:xfrm>
          <a:prstGeom prst="rect">
            <a:avLst/>
          </a:prstGeom>
          <a:noFill/>
        </p:spPr>
        <p:txBody>
          <a:bodyPr wrap="square" lIns="27432" rIns="27432" tIns="18288" bIns="18288">
            <a:spAutoFit/>
          </a:bodyPr>
          <a:lstStyle/>
          <a:p>
            <a:r>
              <a:rPr sz="1100" b="0">
                <a:solidFill>
                  <a:srgbClr val="1F2937"/>
                </a:solidFill>
                <a:latin typeface="Aptos"/>
              </a:rPr>
              <a:t>Recirculating inline rotor-stator</a:t>
            </a:r>
          </a:p>
        </p:txBody>
      </p:sp>
      <p:sp>
        <p:nvSpPr>
          <p:cNvPr id="35" name="TextBox 34"/>
          <p:cNvSpPr txBox="1"/>
          <p:nvPr/>
        </p:nvSpPr>
        <p:spPr>
          <a:xfrm>
            <a:off x="3600000" y="3451680"/>
            <a:ext cx="1400000" cy="340000"/>
          </a:xfrm>
          <a:prstGeom prst="rect">
            <a:avLst/>
          </a:prstGeom>
          <a:noFill/>
        </p:spPr>
        <p:txBody>
          <a:bodyPr wrap="square" lIns="27432" rIns="27432" tIns="18288" bIns="18288">
            <a:spAutoFit/>
          </a:bodyPr>
          <a:lstStyle/>
          <a:p>
            <a:r>
              <a:rPr sz="1100" b="0">
                <a:solidFill>
                  <a:srgbClr val="1F2937"/>
                </a:solidFill>
                <a:latin typeface="Aptos"/>
              </a:rPr>
              <a:t>Add-on</a:t>
            </a:r>
          </a:p>
        </p:txBody>
      </p:sp>
      <p:sp>
        <p:nvSpPr>
          <p:cNvPr id="36" name="TextBox 35"/>
          <p:cNvSpPr txBox="1"/>
          <p:nvPr/>
        </p:nvSpPr>
        <p:spPr>
          <a:xfrm>
            <a:off x="5100000" y="3451680"/>
            <a:ext cx="1000000" cy="340000"/>
          </a:xfrm>
          <a:prstGeom prst="rect">
            <a:avLst/>
          </a:prstGeom>
          <a:noFill/>
        </p:spPr>
        <p:txBody>
          <a:bodyPr wrap="square" lIns="27432" rIns="27432" tIns="18288" bIns="18288">
            <a:spAutoFit/>
          </a:bodyPr>
          <a:lstStyle/>
          <a:p>
            <a:r>
              <a:rPr sz="1100" b="0">
                <a:solidFill>
                  <a:srgbClr val="1F2937"/>
                </a:solidFill>
                <a:latin typeface="Aptos"/>
              </a:rPr>
              <a:t>Medium-High</a:t>
            </a:r>
          </a:p>
        </p:txBody>
      </p:sp>
      <p:sp>
        <p:nvSpPr>
          <p:cNvPr id="37" name="TextBox 36"/>
          <p:cNvSpPr txBox="1"/>
          <p:nvPr/>
        </p:nvSpPr>
        <p:spPr>
          <a:xfrm>
            <a:off x="6200000" y="3451680"/>
            <a:ext cx="1200000" cy="340000"/>
          </a:xfrm>
          <a:prstGeom prst="rect">
            <a:avLst/>
          </a:prstGeom>
          <a:noFill/>
        </p:spPr>
        <p:txBody>
          <a:bodyPr wrap="square" lIns="27432" rIns="27432" tIns="18288" bIns="18288">
            <a:spAutoFit/>
          </a:bodyPr>
          <a:lstStyle/>
          <a:p>
            <a:r>
              <a:rPr sz="1100" b="0">
                <a:solidFill>
                  <a:srgbClr val="1F2937"/>
                </a:solidFill>
                <a:latin typeface="Aptos"/>
              </a:rPr>
              <a:t>Medium-High</a:t>
            </a:r>
          </a:p>
        </p:txBody>
      </p:sp>
      <p:sp>
        <p:nvSpPr>
          <p:cNvPr id="38" name="TextBox 37"/>
          <p:cNvSpPr txBox="1"/>
          <p:nvPr/>
        </p:nvSpPr>
        <p:spPr>
          <a:xfrm>
            <a:off x="7500000" y="3451680"/>
            <a:ext cx="1200000" cy="340000"/>
          </a:xfrm>
          <a:prstGeom prst="rect">
            <a:avLst/>
          </a:prstGeom>
          <a:noFill/>
        </p:spPr>
        <p:txBody>
          <a:bodyPr wrap="square" lIns="27432" rIns="27432" tIns="18288" bIns="18288">
            <a:spAutoFit/>
          </a:bodyPr>
          <a:lstStyle/>
          <a:p>
            <a:r>
              <a:rPr sz="1100" b="0">
                <a:solidFill>
                  <a:srgbClr val="1F2937"/>
                </a:solidFill>
                <a:latin typeface="Aptos"/>
              </a:rPr>
              <a:t>Conditional</a:t>
            </a:r>
          </a:p>
        </p:txBody>
      </p:sp>
      <p:sp>
        <p:nvSpPr>
          <p:cNvPr id="39" name="TextBox 38"/>
          <p:cNvSpPr txBox="1"/>
          <p:nvPr/>
        </p:nvSpPr>
        <p:spPr>
          <a:xfrm>
            <a:off x="8800000" y="3451680"/>
            <a:ext cx="1200000" cy="340000"/>
          </a:xfrm>
          <a:prstGeom prst="rect">
            <a:avLst/>
          </a:prstGeom>
          <a:noFill/>
        </p:spPr>
        <p:txBody>
          <a:bodyPr wrap="square" lIns="27432" rIns="27432" tIns="18288" bIns="18288">
            <a:spAutoFit/>
          </a:bodyPr>
          <a:lstStyle/>
          <a:p>
            <a:r>
              <a:rPr sz="1100" b="0">
                <a:solidFill>
                  <a:srgbClr val="1F2937"/>
                </a:solidFill>
                <a:latin typeface="Aptos"/>
              </a:rPr>
              <a:t>Medium</a:t>
            </a:r>
          </a:p>
        </p:txBody>
      </p:sp>
      <p:sp>
        <p:nvSpPr>
          <p:cNvPr id="40" name="TextBox 39"/>
          <p:cNvSpPr txBox="1"/>
          <p:nvPr/>
        </p:nvSpPr>
        <p:spPr>
          <a:xfrm>
            <a:off x="10100000" y="3451680"/>
            <a:ext cx="800000" cy="340000"/>
          </a:xfrm>
          <a:prstGeom prst="rect">
            <a:avLst/>
          </a:prstGeom>
          <a:noFill/>
        </p:spPr>
        <p:txBody>
          <a:bodyPr wrap="square" lIns="27432" rIns="27432" tIns="18288" bIns="18288">
            <a:spAutoFit/>
          </a:bodyPr>
          <a:lstStyle/>
          <a:p>
            <a:r>
              <a:rPr sz="1100" b="0">
                <a:solidFill>
                  <a:srgbClr val="1F2937"/>
                </a:solidFill>
                <a:latin typeface="Aptos"/>
              </a:rPr>
              <a:t>4</a:t>
            </a:r>
          </a:p>
        </p:txBody>
      </p:sp>
      <p:sp>
        <p:nvSpPr>
          <p:cNvPr id="41" name="TextBox 40"/>
          <p:cNvSpPr txBox="1"/>
          <p:nvPr/>
        </p:nvSpPr>
        <p:spPr>
          <a:xfrm>
            <a:off x="685800" y="3931680"/>
            <a:ext cx="2800000" cy="340000"/>
          </a:xfrm>
          <a:prstGeom prst="rect">
            <a:avLst/>
          </a:prstGeom>
          <a:noFill/>
        </p:spPr>
        <p:txBody>
          <a:bodyPr wrap="square" lIns="27432" rIns="27432" tIns="18288" bIns="18288">
            <a:spAutoFit/>
          </a:bodyPr>
          <a:lstStyle/>
          <a:p>
            <a:r>
              <a:rPr sz="1100" b="0">
                <a:solidFill>
                  <a:srgbClr val="1F2937"/>
                </a:solidFill>
                <a:latin typeface="Aptos"/>
              </a:rPr>
              <a:t>Bottom-entry magnetic agitator</a:t>
            </a:r>
          </a:p>
        </p:txBody>
      </p:sp>
      <p:sp>
        <p:nvSpPr>
          <p:cNvPr id="42" name="TextBox 41"/>
          <p:cNvSpPr txBox="1"/>
          <p:nvPr/>
        </p:nvSpPr>
        <p:spPr>
          <a:xfrm>
            <a:off x="3600000" y="3931680"/>
            <a:ext cx="1400000" cy="340000"/>
          </a:xfrm>
          <a:prstGeom prst="rect">
            <a:avLst/>
          </a:prstGeom>
          <a:noFill/>
        </p:spPr>
        <p:txBody>
          <a:bodyPr wrap="square" lIns="27432" rIns="27432" tIns="18288" bIns="18288">
            <a:spAutoFit/>
          </a:bodyPr>
          <a:lstStyle/>
          <a:p>
            <a:r>
              <a:rPr sz="1100" b="0">
                <a:solidFill>
                  <a:srgbClr val="1F2937"/>
                </a:solidFill>
                <a:latin typeface="Aptos"/>
              </a:rPr>
              <a:t>Conditional</a:t>
            </a:r>
          </a:p>
        </p:txBody>
      </p:sp>
      <p:sp>
        <p:nvSpPr>
          <p:cNvPr id="43" name="TextBox 42"/>
          <p:cNvSpPr txBox="1"/>
          <p:nvPr/>
        </p:nvSpPr>
        <p:spPr>
          <a:xfrm>
            <a:off x="5100000" y="3931680"/>
            <a:ext cx="1000000" cy="340000"/>
          </a:xfrm>
          <a:prstGeom prst="rect">
            <a:avLst/>
          </a:prstGeom>
          <a:noFill/>
        </p:spPr>
        <p:txBody>
          <a:bodyPr wrap="square" lIns="27432" rIns="27432" tIns="18288" bIns="18288">
            <a:spAutoFit/>
          </a:bodyPr>
          <a:lstStyle/>
          <a:p>
            <a:r>
              <a:rPr sz="1100" b="0">
                <a:solidFill>
                  <a:srgbClr val="1F2937"/>
                </a:solidFill>
                <a:latin typeface="Aptos"/>
              </a:rPr>
              <a:t>High</a:t>
            </a:r>
          </a:p>
        </p:txBody>
      </p:sp>
      <p:sp>
        <p:nvSpPr>
          <p:cNvPr id="44" name="TextBox 43"/>
          <p:cNvSpPr txBox="1"/>
          <p:nvPr/>
        </p:nvSpPr>
        <p:spPr>
          <a:xfrm>
            <a:off x="6200000" y="3931680"/>
            <a:ext cx="1200000" cy="340000"/>
          </a:xfrm>
          <a:prstGeom prst="rect">
            <a:avLst/>
          </a:prstGeom>
          <a:noFill/>
        </p:spPr>
        <p:txBody>
          <a:bodyPr wrap="square" lIns="27432" rIns="27432" tIns="18288" bIns="18288">
            <a:spAutoFit/>
          </a:bodyPr>
          <a:lstStyle/>
          <a:p>
            <a:r>
              <a:rPr sz="1100" b="0">
                <a:solidFill>
                  <a:srgbClr val="1F2937"/>
                </a:solidFill>
                <a:latin typeface="Aptos"/>
              </a:rPr>
              <a:t>High</a:t>
            </a:r>
          </a:p>
        </p:txBody>
      </p:sp>
      <p:sp>
        <p:nvSpPr>
          <p:cNvPr id="45" name="TextBox 44"/>
          <p:cNvSpPr txBox="1"/>
          <p:nvPr/>
        </p:nvSpPr>
        <p:spPr>
          <a:xfrm>
            <a:off x="7500000" y="3931680"/>
            <a:ext cx="1200000" cy="340000"/>
          </a:xfrm>
          <a:prstGeom prst="rect">
            <a:avLst/>
          </a:prstGeom>
          <a:noFill/>
        </p:spPr>
        <p:txBody>
          <a:bodyPr wrap="square" lIns="27432" rIns="27432" tIns="18288" bIns="18288">
            <a:spAutoFit/>
          </a:bodyPr>
          <a:lstStyle/>
          <a:p>
            <a:r>
              <a:rPr sz="1100" b="0">
                <a:solidFill>
                  <a:srgbClr val="1F2937"/>
                </a:solidFill>
                <a:latin typeface="Aptos"/>
              </a:rPr>
              <a:t>Conditional</a:t>
            </a:r>
          </a:p>
        </p:txBody>
      </p:sp>
      <p:sp>
        <p:nvSpPr>
          <p:cNvPr id="46" name="TextBox 45"/>
          <p:cNvSpPr txBox="1"/>
          <p:nvPr/>
        </p:nvSpPr>
        <p:spPr>
          <a:xfrm>
            <a:off x="8800000" y="3931680"/>
            <a:ext cx="1200000" cy="340000"/>
          </a:xfrm>
          <a:prstGeom prst="rect">
            <a:avLst/>
          </a:prstGeom>
          <a:noFill/>
        </p:spPr>
        <p:txBody>
          <a:bodyPr wrap="square" lIns="27432" rIns="27432" tIns="18288" bIns="18288">
            <a:spAutoFit/>
          </a:bodyPr>
          <a:lstStyle/>
          <a:p>
            <a:r>
              <a:rPr sz="1100" b="0">
                <a:solidFill>
                  <a:srgbClr val="1F2937"/>
                </a:solidFill>
                <a:latin typeface="Aptos"/>
              </a:rPr>
              <a:t>Medium-High</a:t>
            </a:r>
          </a:p>
        </p:txBody>
      </p:sp>
      <p:sp>
        <p:nvSpPr>
          <p:cNvPr id="47" name="TextBox 46"/>
          <p:cNvSpPr txBox="1"/>
          <p:nvPr/>
        </p:nvSpPr>
        <p:spPr>
          <a:xfrm>
            <a:off x="10100000" y="3931680"/>
            <a:ext cx="800000" cy="340000"/>
          </a:xfrm>
          <a:prstGeom prst="rect">
            <a:avLst/>
          </a:prstGeom>
          <a:noFill/>
        </p:spPr>
        <p:txBody>
          <a:bodyPr wrap="square" lIns="27432" rIns="27432" tIns="18288" bIns="18288">
            <a:spAutoFit/>
          </a:bodyPr>
          <a:lstStyle/>
          <a:p>
            <a:r>
              <a:rPr sz="1100" b="0">
                <a:solidFill>
                  <a:srgbClr val="1F2937"/>
                </a:solidFill>
                <a:latin typeface="Aptos"/>
              </a:rPr>
              <a:t>5</a:t>
            </a:r>
          </a:p>
        </p:txBody>
      </p:sp>
      <p:sp>
        <p:nvSpPr>
          <p:cNvPr id="48" name="TextBox 47"/>
          <p:cNvSpPr txBox="1"/>
          <p:nvPr/>
        </p:nvSpPr>
        <p:spPr>
          <a:xfrm>
            <a:off x="685800" y="5000000"/>
            <a:ext cx="10400000" cy="1000000"/>
          </a:xfrm>
          <a:prstGeom prst="rect">
            <a:avLst/>
          </a:prstGeom>
          <a:noFill/>
        </p:spPr>
        <p:txBody>
          <a:bodyPr wrap="square" lIns="27432" rIns="27432" tIns="18288" bIns="18288">
            <a:spAutoFit/>
          </a:bodyPr>
          <a:lstStyle/>
          <a:p>
            <a:r>
              <a:rPr sz="1200" b="0">
                <a:solidFill>
                  <a:srgbClr val="1F2937"/>
                </a:solidFill>
                <a:latin typeface="Aptos"/>
              </a:rPr>
              <a:t>Decision logic  Ranking prioritizes low-shear pumping, powder drawdown, tall-vessel turnover, hygienic integration, and scalable suspension. Results may change with rheology, minimum level, quantified shear limits,…</a:t>
            </a:r>
          </a:p>
        </p:txBody>
      </p:sp>
      <p:sp>
        <p:nvSpPr>
          <p:cNvPr id="49" name="TextBox 48"/>
          <p:cNvSpPr txBox="1"/>
          <p:nvPr/>
        </p:nvSpPr>
        <p:spPr>
          <a:xfrm>
            <a:off x="502920" y="6510528"/>
            <a:ext cx="3657600" cy="182880"/>
          </a:xfrm>
          <a:prstGeom prst="rect">
            <a:avLst/>
          </a:prstGeom>
          <a:noFill/>
        </p:spPr>
        <p:txBody>
          <a:bodyPr wrap="none">
            <a:spAutoFit/>
          </a:bodyPr>
          <a:lstStyle/>
          <a:p>
            <a:r>
              <a:rPr sz="850" b="0">
                <a:solidFill>
                  <a:srgbClr val="6B7280"/>
                </a:solidFill>
                <a:latin typeface="Aptos"/>
              </a:rPr>
              <a:t>Project-team summary • Slide 5</a:t>
            </a:r>
          </a:p>
        </p:txBody>
      </p:sp>
      <p:sp>
        <p:nvSpPr>
          <p:cNvPr id="50" name="TextBox 49"/>
          <p:cNvSpPr txBox="1"/>
          <p:nvPr/>
        </p:nvSpPr>
        <p:spPr>
          <a:xfrm>
            <a:off x="8046720" y="6510528"/>
            <a:ext cx="3657600" cy="182880"/>
          </a:xfrm>
          <a:prstGeom prst="rect">
            <a:avLst/>
          </a:prstGeom>
          <a:noFill/>
        </p:spPr>
        <p:txBody>
          <a:bodyPr wrap="none">
            <a:spAutoFit/>
          </a:bodyPr>
          <a:lstStyle/>
          <a:p>
            <a:pPr algn="r"/>
            <a:r>
              <a:rPr sz="850" b="0">
                <a:solidFill>
                  <a:srgbClr val="6B7280"/>
                </a:solidFill>
                <a:latin typeface="Aptos"/>
              </a:rPr>
              <a:t>Basis: user DIR code 3-3-3-3-3-2-3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0698480" cy="219456"/>
          </a:xfrm>
          <a:prstGeom prst="rect">
            <a:avLst/>
          </a:prstGeom>
          <a:noFill/>
        </p:spPr>
        <p:txBody>
          <a:bodyPr wrap="none">
            <a:spAutoFit/>
          </a:bodyPr>
          <a:lstStyle/>
          <a:p>
            <a:r>
              <a:rPr sz="950" b="1">
                <a:solidFill>
                  <a:srgbClr val="6B7280"/>
                </a:solidFill>
                <a:latin typeface="Aptos"/>
              </a:rPr>
              <a:t>Equipment assessment / Media Preparation Vessel</a:t>
            </a:r>
          </a:p>
        </p:txBody>
      </p:sp>
      <p:sp>
        <p:nvSpPr>
          <p:cNvPr id="3" name="TextBox 2"/>
          <p:cNvSpPr txBox="1"/>
          <p:nvPr/>
        </p:nvSpPr>
        <p:spPr>
          <a:xfrm>
            <a:off x="502920" y="502920"/>
            <a:ext cx="10698480" cy="438912"/>
          </a:xfrm>
          <a:prstGeom prst="rect">
            <a:avLst/>
          </a:prstGeom>
          <a:noFill/>
        </p:spPr>
        <p:txBody>
          <a:bodyPr wrap="none">
            <a:spAutoFit/>
          </a:bodyPr>
          <a:lstStyle/>
          <a:p>
            <a:r>
              <a:rPr sz="2800" b="1">
                <a:solidFill>
                  <a:srgbClr val="17324D"/>
                </a:solidFill>
                <a:latin typeface="Aptos Display"/>
              </a:rPr>
              <a:t>Recommended basis and alternate option</a:t>
            </a:r>
          </a:p>
        </p:txBody>
      </p:sp>
      <p:sp>
        <p:nvSpPr>
          <p:cNvPr id="4" name="Rectangle 3"/>
          <p:cNvSpPr/>
          <p:nvPr/>
        </p:nvSpPr>
        <p:spPr>
          <a:xfrm>
            <a:off x="502920" y="1060704"/>
            <a:ext cx="111556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400000"/>
            <a:ext cx="5600000" cy="4200000"/>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0000" y="1600000"/>
            <a:ext cx="5000000" cy="400000"/>
          </a:xfrm>
          <a:prstGeom prst="rect">
            <a:avLst/>
          </a:prstGeom>
          <a:noFill/>
        </p:spPr>
        <p:txBody>
          <a:bodyPr wrap="none">
            <a:spAutoFit/>
          </a:bodyPr>
          <a:lstStyle/>
          <a:p>
            <a:r>
              <a:rPr sz="1300" b="1">
                <a:solidFill>
                  <a:srgbClr val="6B7280"/>
                </a:solidFill>
                <a:latin typeface="Aptos"/>
              </a:rPr>
              <a:t>Recommended selection</a:t>
            </a:r>
          </a:p>
        </p:txBody>
      </p:sp>
      <p:sp>
        <p:nvSpPr>
          <p:cNvPr id="7" name="TextBox 6"/>
          <p:cNvSpPr txBox="1"/>
          <p:nvPr/>
        </p:nvSpPr>
        <p:spPr>
          <a:xfrm>
            <a:off x="900000" y="2000000"/>
            <a:ext cx="5000000" cy="900000"/>
          </a:xfrm>
          <a:prstGeom prst="rect">
            <a:avLst/>
          </a:prstGeom>
          <a:noFill/>
        </p:spPr>
        <p:txBody>
          <a:bodyPr wrap="square" lIns="27432" rIns="27432" tIns="18288" bIns="18288">
            <a:spAutoFit/>
          </a:bodyPr>
          <a:lstStyle/>
          <a:p>
            <a:r>
              <a:rPr sz="1600" b="1">
                <a:solidFill>
                  <a:srgbClr val="00A398"/>
                </a:solidFill>
                <a:latin typeface="Aptos Display"/>
              </a:rPr>
              <a:t>Preliminary basis: VFD-driven hygienic top-entry agitator with staged down-pumping hydrofoils and engineered…</a:t>
            </a:r>
          </a:p>
        </p:txBody>
      </p:sp>
      <p:sp>
        <p:nvSpPr>
          <p:cNvPr id="8" name="TextBox 7"/>
          <p:cNvSpPr txBox="1"/>
          <p:nvPr/>
        </p:nvSpPr>
        <p:spPr>
          <a:xfrm>
            <a:off x="900000" y="3000000"/>
            <a:ext cx="5000000" cy="2300000"/>
          </a:xfrm>
          <a:prstGeom prst="rect">
            <a:avLst/>
          </a:prstGeom>
          <a:noFill/>
        </p:spPr>
        <p:txBody>
          <a:bodyPr wrap="square" lIns="27432" rIns="27432" tIns="18288" bIns="18288">
            <a:spAutoFit/>
          </a:bodyPr>
          <a:lstStyle/>
          <a:p>
            <a:r>
              <a:rPr sz="1100" b="0">
                <a:solidFill>
                  <a:srgbClr val="1F2937"/>
                </a:solidFill>
                <a:latin typeface="Aptos"/>
              </a:rPr>
              <a:t>• Efficient axial pumping supports turnover and suspension at comparative…</a:t>
            </a:r>
          </a:p>
          <a:p>
            <a:r>
              <a:rPr sz="1100" b="0">
                <a:solidFill>
                  <a:srgbClr val="1F2937"/>
                </a:solidFill>
                <a:latin typeface="Aptos"/>
              </a:rPr>
              <a:t>• Multiple stages address tall geometry, bottom sweeping, heat transfer,…</a:t>
            </a:r>
          </a:p>
          <a:p>
            <a:r>
              <a:rPr sz="1100" b="0">
                <a:solidFill>
                  <a:srgbClr val="1F2937"/>
                </a:solidFill>
                <a:latin typeface="Aptos"/>
              </a:rPr>
              <a:t>• Variable speed enables fill, addition, dissolution, hold, restart, and…</a:t>
            </a:r>
          </a:p>
          <a:p>
            <a:r>
              <a:rPr sz="1100" b="0">
                <a:solidFill>
                  <a:srgbClr val="1F2937"/>
                </a:solidFill>
                <a:latin typeface="Aptos"/>
              </a:rPr>
              <a:t>• Scale-up can evaluate pumping, power, tip speed, blend time, and suspen…</a:t>
            </a:r>
          </a:p>
        </p:txBody>
      </p:sp>
      <p:sp>
        <p:nvSpPr>
          <p:cNvPr id="9" name="Rounded Rectangle 8"/>
          <p:cNvSpPr/>
          <p:nvPr/>
        </p:nvSpPr>
        <p:spPr>
          <a:xfrm>
            <a:off x="6600000" y="1400000"/>
            <a:ext cx="5000000" cy="2000000"/>
          </a:xfrm>
          <a:prstGeom prst="roundRect">
            <a:avLst>
              <a:gd name="adj" fmla="val 8000"/>
            </a:avLst>
          </a:prstGeom>
          <a:solidFill>
            <a:srgbClr val="E6F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0000" y="1550000"/>
            <a:ext cx="4500000" cy="300000"/>
          </a:xfrm>
          <a:prstGeom prst="rect">
            <a:avLst/>
          </a:prstGeom>
          <a:noFill/>
        </p:spPr>
        <p:txBody>
          <a:bodyPr wrap="none">
            <a:spAutoFit/>
          </a:bodyPr>
          <a:lstStyle/>
          <a:p>
            <a:r>
              <a:rPr sz="1300" b="1">
                <a:solidFill>
                  <a:srgbClr val="6B7280"/>
                </a:solidFill>
                <a:latin typeface="Aptos"/>
              </a:rPr>
              <a:t>Alternate option</a:t>
            </a:r>
          </a:p>
        </p:txBody>
      </p:sp>
      <p:sp>
        <p:nvSpPr>
          <p:cNvPr id="11" name="TextBox 10"/>
          <p:cNvSpPr txBox="1"/>
          <p:nvPr/>
        </p:nvSpPr>
        <p:spPr>
          <a:xfrm>
            <a:off x="6850000" y="1900000"/>
            <a:ext cx="4500000" cy="1200000"/>
          </a:xfrm>
          <a:prstGeom prst="rect">
            <a:avLst/>
          </a:prstGeom>
          <a:noFill/>
        </p:spPr>
        <p:txBody>
          <a:bodyPr wrap="square" lIns="27432" rIns="27432" tIns="18288" bIns="18288">
            <a:spAutoFit/>
          </a:bodyPr>
          <a:lstStyle/>
          <a:p>
            <a:r>
              <a:rPr sz="1400" b="1">
                <a:solidFill>
                  <a:srgbClr val="17324D"/>
                </a:solidFill>
                <a:latin typeface="Aptos"/>
              </a:rPr>
              <a:t>Alternate: Hygienic top-entry retreat-curve impeller arrangement with multiple stages where cleanab…</a:t>
            </a:r>
          </a:p>
        </p:txBody>
      </p:sp>
      <p:sp>
        <p:nvSpPr>
          <p:cNvPr id="12" name="TextBox 11"/>
          <p:cNvSpPr txBox="1"/>
          <p:nvPr/>
        </p:nvSpPr>
        <p:spPr>
          <a:xfrm>
            <a:off x="6850000" y="3000000"/>
            <a:ext cx="4500000" cy="300000"/>
          </a:xfrm>
          <a:prstGeom prst="rect">
            <a:avLst/>
          </a:prstGeom>
          <a:noFill/>
        </p:spPr>
        <p:txBody>
          <a:bodyPr wrap="square" lIns="27432" rIns="27432" tIns="18288" bIns="18288">
            <a:spAutoFit/>
          </a:bodyPr>
          <a:lstStyle/>
          <a:p>
            <a:r>
              <a:rPr sz="900" b="0">
                <a:solidFill>
                  <a:srgbClr val="1F2937"/>
                </a:solidFill>
                <a:latin typeface="Aptos"/>
              </a:rPr>
              <a:t>Retain subject to representative powder-drawdown and 15-minute endpoint trials; expected suspension…</a:t>
            </a:r>
          </a:p>
        </p:txBody>
      </p:sp>
      <p:sp>
        <p:nvSpPr>
          <p:cNvPr id="13" name="TextBox 12"/>
          <p:cNvSpPr txBox="1"/>
          <p:nvPr/>
        </p:nvSpPr>
        <p:spPr>
          <a:xfrm>
            <a:off x="6600000" y="3600000"/>
            <a:ext cx="5000000" cy="300000"/>
          </a:xfrm>
          <a:prstGeom prst="rect">
            <a:avLst/>
          </a:prstGeom>
          <a:noFill/>
        </p:spPr>
        <p:txBody>
          <a:bodyPr wrap="none">
            <a:spAutoFit/>
          </a:bodyPr>
          <a:lstStyle/>
          <a:p>
            <a:r>
              <a:rPr sz="1300" b="1">
                <a:solidFill>
                  <a:srgbClr val="6B7280"/>
                </a:solidFill>
                <a:latin typeface="Aptos"/>
              </a:rPr>
              <a:t>Cons / watchouts</a:t>
            </a:r>
          </a:p>
        </p:txBody>
      </p:sp>
      <p:sp>
        <p:nvSpPr>
          <p:cNvPr id="14" name="TextBox 13"/>
          <p:cNvSpPr txBox="1"/>
          <p:nvPr/>
        </p:nvSpPr>
        <p:spPr>
          <a:xfrm>
            <a:off x="6600000" y="3950000"/>
            <a:ext cx="5000000" cy="1400000"/>
          </a:xfrm>
          <a:prstGeom prst="rect">
            <a:avLst/>
          </a:prstGeom>
          <a:noFill/>
        </p:spPr>
        <p:txBody>
          <a:bodyPr wrap="square" lIns="27432" rIns="27432" tIns="18288" bIns="18288">
            <a:spAutoFit/>
          </a:bodyPr>
          <a:lstStyle/>
          <a:p>
            <a:r>
              <a:rPr sz="1000" b="0">
                <a:solidFill>
                  <a:srgbClr val="1F2937"/>
                </a:solidFill>
                <a:latin typeface="Aptos"/>
              </a:rPr>
              <a:t>• Top shaft penetration requires seal development for pressure, v…</a:t>
            </a:r>
          </a:p>
          <a:p>
            <a:r>
              <a:rPr sz="1000" b="0">
                <a:solidFill>
                  <a:srgbClr val="1F2937"/>
                </a:solidFill>
                <a:latin typeface="Aptos"/>
              </a:rPr>
              <a:t>• Long shaft requires critical-speed, runout, support-load, and m…</a:t>
            </a:r>
          </a:p>
          <a:p>
            <a:r>
              <a:rPr sz="1000" b="0">
                <a:solidFill>
                  <a:srgbClr val="1F2937"/>
                </a:solidFill>
                <a:latin typeface="Aptos"/>
              </a:rPr>
              <a:t>• Powder performance remains sensitive to feed location, rate, le…</a:t>
            </a:r>
          </a:p>
          <a:p>
            <a:r>
              <a:rPr sz="1000" b="0">
                <a:solidFill>
                  <a:srgbClr val="1F2937"/>
                </a:solidFill>
                <a:latin typeface="Aptos"/>
              </a:rPr>
              <a:t>• Final impeller geometry and drive sizing await vessel, rheology…</a:t>
            </a:r>
          </a:p>
        </p:txBody>
      </p:sp>
      <p:sp>
        <p:nvSpPr>
          <p:cNvPr id="15" name="TextBox 14"/>
          <p:cNvSpPr txBox="1"/>
          <p:nvPr/>
        </p:nvSpPr>
        <p:spPr>
          <a:xfrm>
            <a:off x="502920" y="6510528"/>
            <a:ext cx="3657600" cy="182880"/>
          </a:xfrm>
          <a:prstGeom prst="rect">
            <a:avLst/>
          </a:prstGeom>
          <a:noFill/>
        </p:spPr>
        <p:txBody>
          <a:bodyPr wrap="none">
            <a:spAutoFit/>
          </a:bodyPr>
          <a:lstStyle/>
          <a:p>
            <a:r>
              <a:rPr sz="850" b="0">
                <a:solidFill>
                  <a:srgbClr val="6B7280"/>
                </a:solidFill>
                <a:latin typeface="Aptos"/>
              </a:rPr>
              <a:t>Project-team summary • Slide 6</a:t>
            </a:r>
          </a:p>
        </p:txBody>
      </p:sp>
      <p:sp>
        <p:nvSpPr>
          <p:cNvPr id="16" name="TextBox 15"/>
          <p:cNvSpPr txBox="1"/>
          <p:nvPr/>
        </p:nvSpPr>
        <p:spPr>
          <a:xfrm>
            <a:off x="8046720" y="6510528"/>
            <a:ext cx="3657600" cy="182880"/>
          </a:xfrm>
          <a:prstGeom prst="rect">
            <a:avLst/>
          </a:prstGeom>
          <a:noFill/>
        </p:spPr>
        <p:txBody>
          <a:bodyPr wrap="none">
            <a:spAutoFit/>
          </a:bodyPr>
          <a:lstStyle/>
          <a:p>
            <a:pPr algn="r"/>
            <a:r>
              <a:rPr sz="850" b="0">
                <a:solidFill>
                  <a:srgbClr val="6B7280"/>
                </a:solidFill>
                <a:latin typeface="Aptos"/>
              </a:rPr>
              <a:t>Basis: user DIR code 3-3-3-3-3-2-3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0698480" cy="219456"/>
          </a:xfrm>
          <a:prstGeom prst="rect">
            <a:avLst/>
          </a:prstGeom>
          <a:noFill/>
        </p:spPr>
        <p:txBody>
          <a:bodyPr wrap="none">
            <a:spAutoFit/>
          </a:bodyPr>
          <a:lstStyle/>
          <a:p>
            <a:r>
              <a:rPr sz="950" b="1">
                <a:solidFill>
                  <a:srgbClr val="6B7280"/>
                </a:solidFill>
                <a:latin typeface="Aptos"/>
              </a:rPr>
              <a:t>Equipment assessment / Media Preparation Vessel</a:t>
            </a:r>
          </a:p>
        </p:txBody>
      </p:sp>
      <p:sp>
        <p:nvSpPr>
          <p:cNvPr id="3" name="TextBox 2"/>
          <p:cNvSpPr txBox="1"/>
          <p:nvPr/>
        </p:nvSpPr>
        <p:spPr>
          <a:xfrm>
            <a:off x="502920" y="502920"/>
            <a:ext cx="10698480" cy="438912"/>
          </a:xfrm>
          <a:prstGeom prst="rect">
            <a:avLst/>
          </a:prstGeom>
          <a:noFill/>
        </p:spPr>
        <p:txBody>
          <a:bodyPr wrap="none">
            <a:spAutoFit/>
          </a:bodyPr>
          <a:lstStyle/>
          <a:p>
            <a:r>
              <a:rPr sz="2800" b="1">
                <a:solidFill>
                  <a:srgbClr val="17324D"/>
                </a:solidFill>
                <a:latin typeface="Aptos Display"/>
              </a:rPr>
              <a:t>Preliminary specification points / vendors / references</a:t>
            </a:r>
          </a:p>
        </p:txBody>
      </p:sp>
      <p:sp>
        <p:nvSpPr>
          <p:cNvPr id="4" name="Rectangle 3"/>
          <p:cNvSpPr/>
          <p:nvPr/>
        </p:nvSpPr>
        <p:spPr>
          <a:xfrm>
            <a:off x="502920" y="1060704"/>
            <a:ext cx="111556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400000"/>
            <a:ext cx="5600000" cy="4500000"/>
          </a:xfrm>
          <a:prstGeom prst="roundRect">
            <a:avLst>
              <a:gd name="adj" fmla="val 8000"/>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0000" y="1550000"/>
            <a:ext cx="5000000" cy="300000"/>
          </a:xfrm>
          <a:prstGeom prst="rect">
            <a:avLst/>
          </a:prstGeom>
          <a:noFill/>
        </p:spPr>
        <p:txBody>
          <a:bodyPr wrap="none">
            <a:spAutoFit/>
          </a:bodyPr>
          <a:lstStyle/>
          <a:p>
            <a:r>
              <a:rPr sz="1400" b="1">
                <a:solidFill>
                  <a:srgbClr val="17324D"/>
                </a:solidFill>
                <a:latin typeface="Aptos"/>
              </a:rPr>
              <a:t>Baseline specification</a:t>
            </a:r>
          </a:p>
        </p:txBody>
      </p:sp>
      <p:sp>
        <p:nvSpPr>
          <p:cNvPr id="7" name="TextBox 6"/>
          <p:cNvSpPr txBox="1"/>
          <p:nvPr/>
        </p:nvSpPr>
        <p:spPr>
          <a:xfrm>
            <a:off x="900000" y="2000000"/>
            <a:ext cx="5000000" cy="3600000"/>
          </a:xfrm>
          <a:prstGeom prst="rect">
            <a:avLst/>
          </a:prstGeom>
          <a:noFill/>
        </p:spPr>
        <p:txBody>
          <a:bodyPr wrap="square" lIns="27432" rIns="27432" tIns="18288" bIns="18288">
            <a:spAutoFit/>
          </a:bodyPr>
          <a:lstStyle/>
          <a:p>
            <a:r>
              <a:rPr sz="1000" b="0">
                <a:solidFill>
                  <a:srgbClr val="1F2937"/>
                </a:solidFill>
                <a:latin typeface="Aptos"/>
              </a:rPr>
              <a:t>• Configuration — fixed 2,000–10,000 L 316L vessel; VFD top-entry drive;…</a:t>
            </a:r>
          </a:p>
          <a:p>
            <a:r>
              <a:rPr sz="1000" b="0">
                <a:solidFill>
                  <a:srgbClr val="1F2937"/>
                </a:solidFill>
                <a:latin typeface="Aptos"/>
              </a:rPr>
              <a:t>• Swirl control — drainable hygienic baffles or validated off-center arra…</a:t>
            </a:r>
          </a:p>
          <a:p>
            <a:r>
              <a:rPr sz="1000" b="0">
                <a:solidFill>
                  <a:srgbClr val="1F2937"/>
                </a:solidFill>
                <a:latin typeface="Aptos"/>
              </a:rPr>
              <a:t>• Seal — qualify actual pressure, full vacuum, 2–80 °C, cleaning chemistr…</a:t>
            </a:r>
          </a:p>
          <a:p>
            <a:r>
              <a:rPr sz="1000" b="0">
                <a:solidFill>
                  <a:srgbClr val="1F2937"/>
                </a:solidFill>
                <a:latin typeface="Aptos"/>
              </a:rPr>
              <a:t>• Controls — speed/load monitoring, level permissives, torque and seal al…</a:t>
            </a:r>
          </a:p>
          <a:p>
            <a:r>
              <a:rPr sz="1000" b="0">
                <a:solidFill>
                  <a:srgbClr val="1F2937"/>
                </a:solidFill>
                <a:latin typeface="Aptos"/>
              </a:rPr>
              <a:t>• Qualification start — submerge lowest stage; establish low-speed circul…</a:t>
            </a:r>
          </a:p>
          <a:p>
            <a:r>
              <a:rPr sz="1000" b="0">
                <a:solidFill>
                  <a:srgbClr val="1F2937"/>
                </a:solidFill>
                <a:latin typeface="Aptos"/>
              </a:rPr>
              <a:t>• Powder addition — use closed, controlled-rate charging; increase speed…</a:t>
            </a:r>
          </a:p>
          <a:p>
            <a:r>
              <a:rPr sz="1000" b="0">
                <a:solidFill>
                  <a:srgbClr val="1F2937"/>
                </a:solidFill>
                <a:latin typeface="Aptos"/>
              </a:rPr>
              <a:t>• Endpoint — test top, middle, bottom, near-wall, and outlet locations ag…</a:t>
            </a:r>
          </a:p>
        </p:txBody>
      </p:sp>
      <p:sp>
        <p:nvSpPr>
          <p:cNvPr id="8" name="TextBox 7"/>
          <p:cNvSpPr txBox="1"/>
          <p:nvPr/>
        </p:nvSpPr>
        <p:spPr>
          <a:xfrm>
            <a:off x="6600000" y="1400000"/>
            <a:ext cx="5000000" cy="300000"/>
          </a:xfrm>
          <a:prstGeom prst="rect">
            <a:avLst/>
          </a:prstGeom>
          <a:noFill/>
        </p:spPr>
        <p:txBody>
          <a:bodyPr wrap="none">
            <a:spAutoFit/>
          </a:bodyPr>
          <a:lstStyle/>
          <a:p>
            <a:r>
              <a:rPr sz="1400" b="1">
                <a:solidFill>
                  <a:srgbClr val="17324D"/>
                </a:solidFill>
                <a:latin typeface="Aptos"/>
              </a:rPr>
              <a:t>Manufacturer shortlist</a:t>
            </a:r>
          </a:p>
        </p:txBody>
      </p:sp>
      <p:sp>
        <p:nvSpPr>
          <p:cNvPr id="9" name="TextBox 8"/>
          <p:cNvSpPr txBox="1"/>
          <p:nvPr/>
        </p:nvSpPr>
        <p:spPr>
          <a:xfrm>
            <a:off x="6600000" y="1800000"/>
            <a:ext cx="5000000" cy="1800000"/>
          </a:xfrm>
          <a:prstGeom prst="rect">
            <a:avLst/>
          </a:prstGeom>
          <a:noFill/>
        </p:spPr>
        <p:txBody>
          <a:bodyPr wrap="square" lIns="27432" rIns="27432" tIns="18288" bIns="18288">
            <a:spAutoFit/>
          </a:bodyPr>
          <a:lstStyle/>
          <a:p>
            <a:r>
              <a:rPr sz="1100" b="0">
                <a:solidFill>
                  <a:srgbClr val="1F2937"/>
                </a:solidFill>
                <a:latin typeface="Aptos"/>
              </a:rPr>
              <a:t>• Top-entry hydrofoil — SPX FLOW Lightnin; EKATO; Philadelphi…</a:t>
            </a:r>
          </a:p>
          <a:p>
            <a:r>
              <a:rPr sz="1100" b="0">
                <a:solidFill>
                  <a:srgbClr val="1F2937"/>
                </a:solidFill>
                <a:latin typeface="Aptos"/>
              </a:rPr>
              <a:t>• Retreat-curve — Alfa Laval; ZETA; SPX FLOW; GMM Pfaudler</a:t>
            </a:r>
          </a:p>
          <a:p>
            <a:r>
              <a:rPr sz="1100" b="0">
                <a:solidFill>
                  <a:srgbClr val="1F2937"/>
                </a:solidFill>
                <a:latin typeface="Aptos"/>
              </a:rPr>
              <a:t>• Pitched-blade turbine — SPX FLOW Lightnin; EKATO; Philadelp…</a:t>
            </a:r>
          </a:p>
          <a:p>
            <a:r>
              <a:rPr sz="1100" b="0">
                <a:solidFill>
                  <a:srgbClr val="1F2937"/>
                </a:solidFill>
                <a:latin typeface="Aptos"/>
              </a:rPr>
              <a:t>• Inline wetting add-on — Silverson Flashmix; YSTRAL Conti-TD…</a:t>
            </a:r>
          </a:p>
          <a:p>
            <a:r>
              <a:rPr sz="1100" b="0">
                <a:solidFill>
                  <a:srgbClr val="1F2937"/>
                </a:solidFill>
                <a:latin typeface="Aptos"/>
              </a:rPr>
              <a:t>• Bottom magnetic alternate — Alfa Laval LeviMag; ZETA; Steri…</a:t>
            </a:r>
          </a:p>
        </p:txBody>
      </p:sp>
      <p:sp>
        <p:nvSpPr>
          <p:cNvPr id="10" name="TextBox 9"/>
          <p:cNvSpPr txBox="1"/>
          <p:nvPr/>
        </p:nvSpPr>
        <p:spPr>
          <a:xfrm>
            <a:off x="6600000" y="3800000"/>
            <a:ext cx="5000000" cy="300000"/>
          </a:xfrm>
          <a:prstGeom prst="rect">
            <a:avLst/>
          </a:prstGeom>
          <a:noFill/>
        </p:spPr>
        <p:txBody>
          <a:bodyPr wrap="none">
            <a:spAutoFit/>
          </a:bodyPr>
          <a:lstStyle/>
          <a:p>
            <a:r>
              <a:rPr sz="1400" b="1">
                <a:solidFill>
                  <a:srgbClr val="17324D"/>
                </a:solidFill>
                <a:latin typeface="Aptos"/>
              </a:rPr>
              <a:t>Do not specify</a:t>
            </a:r>
          </a:p>
        </p:txBody>
      </p:sp>
      <p:sp>
        <p:nvSpPr>
          <p:cNvPr id="11" name="TextBox 10"/>
          <p:cNvSpPr txBox="1"/>
          <p:nvPr/>
        </p:nvSpPr>
        <p:spPr>
          <a:xfrm>
            <a:off x="6600000" y="4200000"/>
            <a:ext cx="5000000" cy="1400000"/>
          </a:xfrm>
          <a:prstGeom prst="rect">
            <a:avLst/>
          </a:prstGeom>
          <a:noFill/>
        </p:spPr>
        <p:txBody>
          <a:bodyPr wrap="square" lIns="27432" rIns="27432" tIns="18288" bIns="18288">
            <a:spAutoFit/>
          </a:bodyPr>
          <a:lstStyle/>
          <a:p>
            <a:r>
              <a:rPr sz="1100" b="0">
                <a:solidFill>
                  <a:srgbClr val="1F2937"/>
                </a:solidFill>
                <a:latin typeface="Aptos"/>
              </a:rPr>
              <a:t>• Anchor or frame as primary — tangential flow poorly suits…</a:t>
            </a:r>
          </a:p>
          <a:p>
            <a:r>
              <a:rPr sz="1100" b="0">
                <a:solidFill>
                  <a:srgbClr val="1F2937"/>
                </a:solidFill>
                <a:latin typeface="Aptos"/>
              </a:rPr>
              <a:t>• Helical ribbon as primary — intended for sustained lamina…</a:t>
            </a:r>
          </a:p>
          <a:p>
            <a:r>
              <a:rPr sz="1100" b="0">
                <a:solidFill>
                  <a:srgbClr val="1F2937"/>
                </a:solidFill>
                <a:latin typeface="Aptos"/>
              </a:rPr>
              <a:t>• Recirculating jets as primary — coverage, dead zones, cle…</a:t>
            </a:r>
          </a:p>
        </p:txBody>
      </p:sp>
      <p:sp>
        <p:nvSpPr>
          <p:cNvPr id="12" name="TextBox 11"/>
          <p:cNvSpPr txBox="1"/>
          <p:nvPr/>
        </p:nvSpPr>
        <p:spPr>
          <a:xfrm>
            <a:off x="502920" y="6510528"/>
            <a:ext cx="3657600" cy="182880"/>
          </a:xfrm>
          <a:prstGeom prst="rect">
            <a:avLst/>
          </a:prstGeom>
          <a:noFill/>
        </p:spPr>
        <p:txBody>
          <a:bodyPr wrap="none">
            <a:spAutoFit/>
          </a:bodyPr>
          <a:lstStyle/>
          <a:p>
            <a:r>
              <a:rPr sz="850" b="0">
                <a:solidFill>
                  <a:srgbClr val="6B7280"/>
                </a:solidFill>
                <a:latin typeface="Aptos"/>
              </a:rPr>
              <a:t>Project-team summary • Slide 7</a:t>
            </a:r>
          </a:p>
        </p:txBody>
      </p:sp>
      <p:sp>
        <p:nvSpPr>
          <p:cNvPr id="13" name="TextBox 12"/>
          <p:cNvSpPr txBox="1"/>
          <p:nvPr/>
        </p:nvSpPr>
        <p:spPr>
          <a:xfrm>
            <a:off x="8046720" y="6510528"/>
            <a:ext cx="3657600" cy="182880"/>
          </a:xfrm>
          <a:prstGeom prst="rect">
            <a:avLst/>
          </a:prstGeom>
          <a:noFill/>
        </p:spPr>
        <p:txBody>
          <a:bodyPr wrap="none">
            <a:spAutoFit/>
          </a:bodyPr>
          <a:lstStyle/>
          <a:p>
            <a:pPr algn="r"/>
            <a:r>
              <a:rPr sz="850" b="0">
                <a:solidFill>
                  <a:srgbClr val="6B7280"/>
                </a:solidFill>
                <a:latin typeface="Aptos"/>
              </a:rPr>
              <a:t>Basis: user DIR code 3-3-3-3-3-2-3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