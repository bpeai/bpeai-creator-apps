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Engineering summary from result fields:</a:t>
            </a:r>
          </a:p>
          <a:p>
            <a:r>
              <a:t>Capacity / duty: 400 L packed resin</a:t>
            </a:r>
          </a:p>
          <a:p/>
          <a:p>
            <a:r>
              <a:t>Sizing basis: Screening required bed volume for 10 kg target protein per cycle at the conservative DIR lower-bound usable resin capacity of 25 mg/mL. Because the DIR capacity is explicitly a usable design capacity, no additional utilization factor was applied: 10,000,000 mg / 25 mg/mL = 400,000 mL = 400 L.</a:t>
            </a:r>
          </a:p>
          <a:p/>
          <a:p>
            <a:r>
              <a:t>Envelope: Estimated installed equipment envelope: 2.2 m W × 2.2 m D × 3.0 m H. Packed bed basis: approximately 1.60 m internal diameter × 0.20 m bed height, providing 402 L. Recommended operating-space envelope: approximately 4.2 m W × 4.2 m D × 4.5 m H. m Generic cylindrical scale-up benchmarked against large-scale chromatography-column families. For 0.400 m3 packed resin and a selected 0.20 m bed height, ID = sqrt(4V/(pi H)) = 1.596 m, rounded to 1.60 m; resulting volume is 0.402 m3. Estimated installed width/depth add about 0.30 m per side for shell, frame, nozzles, valves, and instrument projections. Estimated height includes the 0.20 m bed plus approximately 2.8 m for plenums, distributors, end assemblies, support frame, adjustable top assembly/actuation, and connections. These allowances are estimates, not catalog dimensions.</a:t>
            </a:r>
          </a:p>
          <a:p/>
          <a:p>
            <a:r>
              <a:t>Connections: Top process/mobile-phase inlet (quantity 1) 2 (DN50) in; Bottom process/product outlet and low-point drain (quantity 1) 2 (DN50) in; Top vent and air-displacement connection (quantity 1) 1 (DN25) in; Upper flush pressure-sensing connection (quantity 1) 1.5 (DN40) in; Lower flush pressure-sensing connection (quantity 1) 1.5 (DN40) in; Upper resin-slurry charging and packing connection (quantity 1) 3 (DN80) in; Lower resin-slurry discharge/unpacking connection (quantity 1) 3 (DN80) in; Outlet sample connection (quantity 1) 0.5 (DN15) in</a:t>
            </a:r>
          </a:p>
          <a:p/>
          <a:p>
            <a:r>
              <a:t>Open items / assumptions: REQUIRED: Confirmation that 10 kg is the target protein mass loaded per cycle rather than total batch mass.; REQUIRED: HIC binding mode and whether product or impurity load controls capacity.; REQUIRED: Conditioned feed concentration and volume per cycle.; REQUIRED: Batch mass, cycles per batch, and acceptable batch processing window.; REQUIRED: Exact effective design capacity or condition-specific DBC with utilization factor.; REQUIRED: Exact loading residence time within &gt;3 to 6 minutes.; REQUIRED: Complete step recipe and flow requirements.; REQUIRED: Peak and minimum flows for column-owned connection sizing.; REQUIRED: Sanitary connection standard, line-sizing criteria, and skid interface sizes.; SUPPLIER CONFIRMATION: Resin identity, particle size, rigidity/compressibility, swelling, packing method, allowable bed-height range, DBC test basis, pressure-flow curve, and cleaning limits.; COLUMN-VENDOR CONFIRMATION: Available column diameters, selected bed-volume capability, distributor turndown, pressure-rating definition, nozzle sizes, packing pressure, and physical envelope.; OPTIONAL REFINEMENT: Development-scale breakthrough curves, scale-up factors, fouling history, impurity loading, yield target, precipitation risk, resin lifetime, and re-use strategy.; SCREENING ASSUMPTION ALLOWED: Use f_util = 0.80 only if the available capacity is measured DBC rather than an already derated usable capacity.; SCREENING ASSUMPTION ALLOWED: Use water at 20 °C only as a noncontrolling reference case; concentrated salt and cleaning-fluid properties remain required for final hydraulic sizing.; SCREENING ASSUMPTION ALLOWED: Treat fluids as incompressible, Newtonian, and single phase only if precipitation and suspended solids are separately excluded.; The 10 kg value is target protein loaded per cycle, not total batch mass.; The target protein is the capacity-controlling binding species in a bind-elute HIC operation; impurity-binding or flow-through operation could require a different basis.; The DIR value of 25 to 50 mg/mL is treated as effective usable capacity, so the optional 0.80 DBC utilization factor is not applied.; One cycle is used for the per-cycle capacity calculation; cycles per batch do not reduce a requirement already specified per cycle.; A 30 cm packed-bed height is selected for screening because it is within the validated &gt;25 to 40 cm range.; A 6 minute loading residence time is selected for screening. Final flow must use the process-selected residence time and the residence time associated with the confirmed DBC.; No additional resin-volume margin, packing allowance, scale-up allowance, or standard column-size rounding is included.; The governing process flow is based on the shortest DIR residence time: 400 L / 3 min = 133.3 L/min. The 6 min condition is 66.7 L/min.; For the 25-40 cm packed-bed-height range, 400 L corresponds to an approximate column internal diameter of 1.43 m at 25 cm bed height or 1.13 m at 40 cm bed height; final diameter and distributor design are vendor responsibilities.; The minimum pressure-boundary basis is 5 barg because the selected operating-pressure requirement extends to 5 bar. Design temperature, code test pressure, cyclic fatigue, and sanitary-clamp derating require vendor confirmation.; The column is not assumed to be vacuum rated. Venting is required during draining and cooling unless the vendor certifies full-vacuum capability.; All product-contact surfaces are assumed to be 316L stainless steel with hygienic finish suitable for biopharmaceutical chromatography; elastomers are assumed to be EPDM or PTFE subject to process-chemical compatibility review.; ASME BPE hygienic clamp ferrules are the selected end-connection convention. Equivalent vendor sanitary standards may be used only after dimensional, pressure-rating, and gasket compatibility confirmation.; The bottom 2 in process outlet is assumed to be the liquid low-point drain, so a separate small drain nozzle is not added.; Packed-bed integrity or HETP testing is performed through the normal process inlet and outlet; no dedicated integrity-test port is required.; No dedicated buffer nozzle is required because all load, buffer, wash, elution, regeneration, and CIP fluids enter through the common process inlet.; Slurry-port sizing assumes approximately 50 percent settled-resin fraction and a practical 200 L/min transfer rate. Final sizes depend on resin bead characteristics, slurry concentration, transfer hose length, and the column vendor's packing method.; A hydraulically or pneumatically actuated adjustable adapter was not specified. Any vendor-specific adapter-actuation connections must be identified and sized by the column vendor.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589520" y="0"/>
            <a:ext cx="4599432" cy="6858000"/>
          </a:xfrm>
          <a:prstGeom prst="roundRect">
            <a:avLst>
              <a:gd name="adj" fmla="val 8000"/>
            </a:avLst>
          </a:prstGeom>
          <a:solidFill>
            <a:srgbClr val="F7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950000" y="650000"/>
            <a:ext cx="3850000" cy="42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2000" b="1">
                <a:solidFill>
                  <a:srgbClr val="17324D"/>
                </a:solidFill>
                <a:latin typeface="Aptos"/>
              </a:rPr>
              <a:t>Engineering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50000" y="1320000"/>
            <a:ext cx="3850000" cy="29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00A398"/>
                </a:solidFill>
                <a:latin typeface="Aptos"/>
              </a:rPr>
              <a:t>Capacity / 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950000" y="1635000"/>
            <a:ext cx="3850000" cy="63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500" b="0">
                <a:solidFill>
                  <a:srgbClr val="1F2937"/>
                </a:solidFill>
                <a:latin typeface="Aptos"/>
              </a:rPr>
              <a:t>400 L packed resin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50000" y="2340000"/>
            <a:ext cx="3850000" cy="29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00A398"/>
                </a:solidFill>
                <a:latin typeface="Aptos"/>
              </a:rPr>
              <a:t>Sizing basis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0000" y="2655000"/>
            <a:ext cx="3850000" cy="63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Screening required bed volume for 10 kg target protein per cycle at the conservative DIR lower-bound usable resin capacity of 25 mg/mL. Bec…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0000" y="3360000"/>
            <a:ext cx="3850000" cy="29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00A398"/>
                </a:solidFill>
                <a:latin typeface="Aptos"/>
              </a:rPr>
              <a:t>Envelope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0000" y="3675000"/>
            <a:ext cx="3850000" cy="63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Estimated installed equipment envelope: 2.2 m W × 2.2 m D × 3.0 m H. Packed bed basis: approximately 1.60 m internal diameter × 0.20 m bed…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0000" y="4380000"/>
            <a:ext cx="3850000" cy="29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00A398"/>
                </a:solidFill>
                <a:latin typeface="Aptos"/>
              </a:rPr>
              <a:t>Connections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0000" y="4695000"/>
            <a:ext cx="3850000" cy="63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Top process/mobile-phase inlet (quantity 1) 2 (DN50) in; Bottom process/product outlet and low-point drain (quantity 1) 2 (DN50) in; Top ve…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0000" y="5400000"/>
            <a:ext cx="3850000" cy="29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00A398"/>
                </a:solidFill>
                <a:latin typeface="Aptos"/>
              </a:rPr>
              <a:t>Open items / assumptions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0000" y="5715000"/>
            <a:ext cx="3850000" cy="63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REQUIRED: Confirmation that 10 kg is the target protein mass loaded per cycle rather than total batch mass.; REQUIRED: HIC binding mode and…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" y="1207008"/>
            <a:ext cx="6217920" cy="14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3400" b="1">
                <a:solidFill>
                  <a:srgbClr val="17324D"/>
                </a:solidFill>
                <a:latin typeface="Aptos Display"/>
              </a:rPr>
              <a:t>HIC Chromatography Column</a:t>
            </a:r>
          </a:p>
          <a:p>
            <a:r>
              <a:rPr sz="3400" b="1">
                <a:solidFill>
                  <a:srgbClr val="17324D"/>
                </a:solidFill>
                <a:latin typeface="Aptos Display"/>
              </a:rPr>
              <a:t>Sizing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4944" y="2743200"/>
            <a:ext cx="5852160" cy="8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0">
                <a:solidFill>
                  <a:srgbClr val="1F2937"/>
                </a:solidFill>
                <a:latin typeface="Aptos"/>
              </a:rPr>
              <a:t>Initial screening of capacity, geometry, hydraulics, connections, pressure basis, envelope, and approval gaps.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94944" y="3794760"/>
            <a:ext cx="2514600" cy="310896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3849624"/>
            <a:ext cx="2404872" cy="2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1">
                <a:solidFill>
                  <a:srgbClr val="2962A3"/>
                </a:solidFill>
                <a:latin typeface="Aptos"/>
              </a:rPr>
              <a:t>Validated DIR: 2-3-3-2-3-1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01568" y="3794760"/>
            <a:ext cx="2176272" cy="310896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56432" y="3849624"/>
            <a:ext cx="2066544" cy="2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000" b="1">
                <a:solidFill>
                  <a:srgbClr val="00A398"/>
                </a:solidFill>
                <a:latin typeface="Aptos"/>
              </a:rPr>
              <a:t>Project-team summary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Equipment assessment / HIC Chromatography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Validated design basis and key gaps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508760"/>
            <a:ext cx="3246120" cy="121615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59536" y="16733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TARGET LOAD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9536" y="2002536"/>
            <a:ext cx="2788920" cy="5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00A398"/>
                </a:solidFill>
                <a:latin typeface="Aptos"/>
              </a:rPr>
              <a:t>10 kg/cycle sizing value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508760"/>
            <a:ext cx="3246120" cy="121615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90288" y="16733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USABLE CAPACITY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90288" y="2002536"/>
            <a:ext cx="2788920" cy="5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&gt;25–50 mg/mL usable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508760"/>
            <a:ext cx="3246120" cy="121615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93608" y="16733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BED HEIGHT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93608" y="2002536"/>
            <a:ext cx="2788920" cy="5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&gt;25–40 cm nominal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337560"/>
            <a:ext cx="3246120" cy="121615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59536" y="35021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RESIDENCE TIME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9536" y="3831336"/>
            <a:ext cx="2788920" cy="5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&gt;3–6 min loading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337560"/>
            <a:ext cx="3246120" cy="121615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90288" y="35021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PRESSURE REQUIREMENT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90288" y="3831336"/>
            <a:ext cx="2788920" cy="5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&gt;3–5 bar requirement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92440" y="3337560"/>
            <a:ext cx="3246120" cy="1216152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93608" y="3502152"/>
            <a:ext cx="28346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INSTALLATION BASIS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608" y="3831336"/>
            <a:ext cx="2788920" cy="5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Reusable; in-place packing and cleaning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" y="5102352"/>
            <a:ext cx="21945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7324D"/>
                </a:solidFill>
                <a:latin typeface="Aptos"/>
              </a:rPr>
              <a:t>Selection 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971800" y="5056632"/>
            <a:ext cx="8458200" cy="7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0">
                <a:solidFill>
                  <a:srgbClr val="1F2937"/>
                </a:solidFill>
                <a:latin typeface="Aptos"/>
              </a:rPr>
              <a:t>Sizing conservatively uses 25 mg/mL, 30 cm, 6 min, and 5 barg preliminary hardware rating. Confirm load interpretation, binding mode, exact DBC, recipe flows, fluid properties, and pressure-rating de…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ptos"/>
              </a:rPr>
              <a:t>Project-team summary • Slide 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Basis: user DIR code 2-3-3-2-3-1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Equipment assessment / HIC Chromatography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Sized-item concept and sizing criteria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8745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58952" y="2020824"/>
            <a:ext cx="292608" cy="292608"/>
          </a:xfrm>
          <a:prstGeom prst="roundRect">
            <a:avLst>
              <a:gd name="adj" fmla="val 8000"/>
            </a:avLst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020824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15568" y="2002248"/>
            <a:ext cx="2002536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50" b="1">
                <a:solidFill>
                  <a:srgbClr val="17324D"/>
                </a:solidFill>
                <a:latin typeface="Aptos"/>
              </a:rPr>
              <a:t>Reusable column concept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8952" y="2494520"/>
            <a:ext cx="2359152" cy="696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ptos"/>
              </a:rPr>
              <a:t>Fixed sanitary column; pack, clean, and reuse in place.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55848" y="18745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3456432" y="2020824"/>
            <a:ext cx="292608" cy="292608"/>
          </a:xfrm>
          <a:prstGeom prst="roundRect">
            <a:avLst>
              <a:gd name="adj" fmla="val 8000"/>
            </a:avLst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020824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13048" y="2002248"/>
            <a:ext cx="2002536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50" b="1">
                <a:solidFill>
                  <a:srgbClr val="17324D"/>
                </a:solidFill>
                <a:latin typeface="Aptos"/>
              </a:rPr>
              <a:t>Retain required capacity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494520"/>
            <a:ext cx="2359152" cy="696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ptos"/>
              </a:rPr>
              <a:t>Provide at least 400 L within DIR-compliant bed height.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53328" y="18745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912" y="2020824"/>
            <a:ext cx="292608" cy="292608"/>
          </a:xfrm>
          <a:prstGeom prst="roundRect">
            <a:avLst>
              <a:gd name="adj" fmla="val 8000"/>
            </a:avLst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53912" y="2020824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528" y="2002248"/>
            <a:ext cx="2002536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50" b="1">
                <a:solidFill>
                  <a:srgbClr val="17324D"/>
                </a:solidFill>
                <a:latin typeface="Aptos"/>
              </a:rPr>
              <a:t>Apply hygienic construction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53912" y="2494520"/>
            <a:ext cx="2359152" cy="696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ptos"/>
              </a:rPr>
              <a:t>Use drainable 316L geometry and ASME BPE clamp interfaces.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50808" y="1874520"/>
            <a:ext cx="2560320" cy="141732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8851392" y="2020824"/>
            <a:ext cx="292608" cy="292608"/>
          </a:xfrm>
          <a:prstGeom prst="roundRect">
            <a:avLst>
              <a:gd name="adj" fmla="val 8000"/>
            </a:avLst>
          </a:prstGeom>
          <a:solidFill>
            <a:srgbClr val="00A39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51392" y="2020824"/>
            <a:ext cx="292608" cy="292608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08008" y="2002248"/>
            <a:ext cx="2002536" cy="438912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Meet pressure basis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51392" y="2494520"/>
            <a:ext cx="2359152" cy="696736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Aptos"/>
              </a:rPr>
              <a:t>Minimum 5 barg; no vacuum rating assumed.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" y="4069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324D"/>
                </a:solidFill>
                <a:latin typeface="Aptos"/>
              </a:rPr>
              <a:t>What can go wrong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590288"/>
            <a:ext cx="5394960" cy="128016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• Insufficient usable capacity or uncredited scale-up margin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Excess bed pressure drop at high-salt viscosity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Distributor maldistribution across the calculated 1.303 m diameter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Vacuum damage during draining or cooling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46520" y="406908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7324D"/>
                </a:solidFill>
                <a:latin typeface="Aptos"/>
              </a:rPr>
              <a:t>Target outcome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492240" y="4535424"/>
            <a:ext cx="4773168" cy="1234440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12280" y="4828032"/>
            <a:ext cx="4160520" cy="8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300" b="1">
                <a:solidFill>
                  <a:srgbClr val="17324D"/>
                </a:solidFill>
                <a:latin typeface="Aptos"/>
              </a:rPr>
              <a:t>Select a vendor configuration providing at least 400 L at a compliant bed height.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ptos"/>
              </a:rPr>
              <a:t>Project-team summary • Slide 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Basis: user DIR code 2-3-3-2-3-1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Equipment assessment / HIC Chromatography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Resin capacity, cycles, and selected bed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35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Aptos"/>
              </a:rPr>
              <a:t>Mixing type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1417320"/>
            <a:ext cx="20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Aptos"/>
              </a:rPr>
              <a:t>Notes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0" y="1417320"/>
            <a:ext cx="20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6B7280"/>
                </a:solidFill>
                <a:latin typeface="Aptos"/>
              </a:rPr>
              <a:t>Fit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764792"/>
            <a:ext cx="950976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2011680"/>
            <a:ext cx="36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00A398"/>
                </a:solidFill>
                <a:latin typeface="Aptos"/>
              </a:rPr>
              <a:t>25 mg/mL endpoint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2011680"/>
            <a:ext cx="42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400 L gives 10 kg capacity; 0% credited margin.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0" y="2011680"/>
            <a:ext cx="164592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00A398"/>
                </a:solidFill>
                <a:latin typeface="Aptos"/>
              </a:rPr>
              <a:t>Best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531680"/>
            <a:ext cx="36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Aptos"/>
              </a:rPr>
              <a:t>50 mg/mL endpoint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2531680"/>
            <a:ext cx="42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10 kg requires 200 L; not selection basis.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2531680"/>
            <a:ext cx="164592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Conditional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051680"/>
            <a:ext cx="36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Aptos"/>
              </a:rPr>
              <a:t>Per-cycle basis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34840" y="3051680"/>
            <a:ext cx="42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One cycle used; cycles per batch remain missing.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15400" y="3051680"/>
            <a:ext cx="164592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Strong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571680"/>
            <a:ext cx="36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Aptos"/>
              </a:rPr>
              <a:t>Utilization factor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3571680"/>
            <a:ext cx="42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Aptos"/>
              </a:rPr>
              <a:t>Not applied because DIR states usable design capacity.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3571680"/>
            <a:ext cx="164592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200" b="0">
                <a:solidFill>
                  <a:srgbClr val="1F2937"/>
                </a:solidFill>
                <a:latin typeface="Aptos"/>
              </a:rPr>
              <a:t>Limited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091680"/>
            <a:ext cx="36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1">
                <a:solidFill>
                  <a:srgbClr val="00A398"/>
                </a:solidFill>
                <a:latin typeface="Aptos"/>
              </a:rPr>
              <a:t>Selected bed volume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091680"/>
            <a:ext cx="420000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Aptos"/>
              </a:rPr>
              <a:t>400 L calculated governing screen before vendor rounding.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0" y="4091680"/>
            <a:ext cx="1645920" cy="36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pPr algn="ctr"/>
            <a:r>
              <a:rPr sz="1200" b="1">
                <a:solidFill>
                  <a:srgbClr val="00A398"/>
                </a:solidFill>
                <a:latin typeface="Aptos"/>
              </a:rPr>
              <a:t>Best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600000"/>
            <a:ext cx="10400000" cy="6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300" b="1">
                <a:solidFill>
                  <a:srgbClr val="17324D"/>
                </a:solidFill>
                <a:latin typeface="Aptos"/>
              </a:rPr>
              <a:t>Selection basis: retain 400 L screening volume; confirm exact usable DBC and define positive design margin before freeze.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ptos"/>
              </a:rPr>
              <a:t>Project-team summary • Slide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Basis: user DIR code 2-3-3-2-3-1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Equipment assessment / HIC Chromatography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Diameter, bed height, flow, velocity, and pressure checks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417320"/>
            <a:ext cx="28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ptos"/>
              </a:rPr>
              <a:t>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00000" y="1417320"/>
            <a:ext cx="14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ptos"/>
              </a:rPr>
              <a:t>Technical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00000" y="1417320"/>
            <a:ext cx="10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ptos"/>
              </a:rPr>
              <a:t>GMP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00000" y="1417320"/>
            <a:ext cx="12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ptos"/>
              </a:rPr>
              <a:t>Scale-up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00000" y="1417320"/>
            <a:ext cx="12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ptos"/>
              </a:rPr>
              <a:t>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00000" y="1417320"/>
            <a:ext cx="12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ptos"/>
              </a:rPr>
              <a:t>Reliability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00000" y="1417320"/>
            <a:ext cx="80000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 b="1">
                <a:solidFill>
                  <a:srgbClr val="6B7280"/>
                </a:solidFill>
                <a:latin typeface="Aptos"/>
              </a:rPr>
              <a:t>Rank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85800" y="1764792"/>
            <a:ext cx="1040000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2011680"/>
            <a:ext cx="2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1">
                <a:solidFill>
                  <a:srgbClr val="00A398"/>
                </a:solidFill>
                <a:latin typeface="Aptos"/>
              </a:rPr>
              <a:t>Bed geometry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00000" y="2011680"/>
            <a:ext cx="14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400 L / 0.30 m =…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00000" y="2011680"/>
            <a:ext cx="10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Calculated ID 1.3…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00000" y="201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Distributor unifo…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00000" y="201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Vendor rounding r…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00000" y="201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Retain ≥400 L cap…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0000" y="2011680"/>
            <a:ext cx="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491680"/>
            <a:ext cx="2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Selected loading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00000" y="2491680"/>
            <a:ext cx="14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66.67 L/min at 6…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00000" y="2491680"/>
            <a:ext cx="10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300 cm/h superfic…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00000" y="249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Resin pressure-fl…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00000" y="249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Recipe confirmati…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0000" y="249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Within validated…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100000" y="2491680"/>
            <a:ext cx="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2971680"/>
            <a:ext cx="2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Flow boundary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00000" y="2971680"/>
            <a:ext cx="14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Aptos"/>
              </a:rPr>
              <a:t>133.33 L/min at 3…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00000" y="2971680"/>
            <a:ext cx="10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Actual maximum mu…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00000" y="297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Peak step flows m…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500000" y="297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Skid interface un…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00000" y="297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Connection screen…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100000" y="2971680"/>
            <a:ext cx="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" y="3451680"/>
            <a:ext cx="2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Main nozzles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0000" y="3451680"/>
            <a:ext cx="14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1.25 m/s through…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00000" y="3451680"/>
            <a:ext cx="10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0.016 bar local l…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00000" y="345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Bed and distribut…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00000" y="345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Vendor hydraulic…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800000" y="345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2 in DN50 prelimi…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00000" y="3451680"/>
            <a:ext cx="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5800" y="3931680"/>
            <a:ext cx="2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Pressure boundary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00000" y="3931680"/>
            <a:ext cx="14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50" b="0">
                <a:solidFill>
                  <a:srgbClr val="1F2937"/>
                </a:solidFill>
                <a:latin typeface="Aptos"/>
              </a:rPr>
              <a:t>5 barg preliminar…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100000" y="3931680"/>
            <a:ext cx="10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0–6 barg instrume…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200000" y="393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Rating definition…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00000" y="393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Clamp derating re…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00000" y="3931680"/>
            <a:ext cx="12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50" b="0">
                <a:solidFill>
                  <a:srgbClr val="1F2937"/>
                </a:solidFill>
                <a:latin typeface="Aptos"/>
              </a:rPr>
              <a:t>No vacuum rating…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100000" y="3931680"/>
            <a:ext cx="800000" cy="34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85800" y="5000000"/>
            <a:ext cx="10400000" cy="10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Aptos"/>
              </a:rPr>
              <a:t>Decision logic  Geometry and nozzle checks support screening only; final acceptance requires resin pressure-flow data, controlling fluid properties, distributor losses, pump shutoff pressure, vendor MAWP, and compli…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ptos"/>
              </a:rPr>
              <a:t>Project-team summary • Slide 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Basis: user DIR code 2-3-3-2-3-1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Equipment assessment / HIC Chromatography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Column-owned connections and preliminary sizes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00000"/>
            <a:ext cx="5600000" cy="4200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600000"/>
            <a:ext cx="5000000" cy="4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7280"/>
                </a:solidFill>
                <a:latin typeface="Aptos"/>
              </a:rPr>
              <a:t>Recommended selection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5000000" cy="9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600" b="1">
                <a:solidFill>
                  <a:srgbClr val="00A398"/>
                </a:solidFill>
                <a:latin typeface="Aptos Display"/>
              </a:rPr>
              <a:t>Qty 1 each: 2 in DN50 top inlet; 2 in DN50 bottom outlet/drain; 1 in DN25 vent; two 1.5 in DN40 pressure port…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0000" y="3000000"/>
            <a:ext cx="5000000" cy="23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• 2 in inlet and outlet screen at 1.25 m/s.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Bottom outlet serves true low-point liquid drainage.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1 in vent screens at 5.8 m/s displacement-air velocity.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3 in ports support estimated 800 L slurry transfer.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600000" y="1400000"/>
            <a:ext cx="5000000" cy="2000000"/>
          </a:xfrm>
          <a:prstGeom prst="roundRect">
            <a:avLst>
              <a:gd name="adj" fmla="val 8000"/>
            </a:avLst>
          </a:prstGeom>
          <a:solidFill>
            <a:srgbClr val="E6F7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0000" y="1550000"/>
            <a:ext cx="45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7280"/>
                </a:solidFill>
                <a:latin typeface="Aptos"/>
              </a:rPr>
              <a:t>Alternate option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0000" y="1900000"/>
            <a:ext cx="4500000" cy="12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No dedicated utility nozzle, buffer nozzle, integrity port, or separate liquid drain.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0000" y="3000000"/>
            <a:ext cx="4500000" cy="3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900" b="0">
                <a:solidFill>
                  <a:srgbClr val="1F2937"/>
                </a:solidFill>
                <a:latin typeface="Aptos"/>
              </a:rPr>
              <a:t>Final packing-port arrangement may combine with vendor-standard slurry connections after drainabili…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000" y="36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B7280"/>
                </a:solidFill>
                <a:latin typeface="Aptos"/>
              </a:rPr>
              <a:t>Cons / watchouts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000" y="3950000"/>
            <a:ext cx="5000000" cy="14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100" b="0">
                <a:solidFill>
                  <a:srgbClr val="1F2937"/>
                </a:solidFill>
                <a:latin typeface="Aptos"/>
              </a:rPr>
              <a:t>• Distributor, bed-support, valve, reducer, and external piping l…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Vacuum capability, clamp derating, and final interfaces require…</a:t>
            </a:r>
          </a:p>
          <a:p>
            <a:r>
              <a:rPr sz="1100" b="0">
                <a:solidFill>
                  <a:srgbClr val="1F2937"/>
                </a:solidFill>
                <a:latin typeface="Aptos"/>
              </a:rPr>
              <a:t>• Sample connection is optional when downstream skid sampling is…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ptos"/>
              </a:rPr>
              <a:t>Project-team summary • Slide 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Basis: user DIR code 2-3-3-2-3-1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06984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B7280"/>
                </a:solidFill>
                <a:latin typeface="Aptos"/>
              </a:rPr>
              <a:t>Equipment assessment / HIC Chromatography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02920"/>
            <a:ext cx="106984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17324D"/>
                </a:solidFill>
                <a:latin typeface="Aptos Display"/>
              </a:rPr>
              <a:t>Envelope, calculation summary, gaps, and actions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060704"/>
            <a:ext cx="11155680" cy="19050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58368" y="1400000"/>
            <a:ext cx="5600000" cy="4500000"/>
          </a:xfrm>
          <a:prstGeom prst="roundRect">
            <a:avLst>
              <a:gd name="adj" fmla="val 8000"/>
            </a:avLst>
          </a:prstGeom>
          <a:solidFill>
            <a:srgbClr val="F3F6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00000" y="155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Baseline specification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00000" y="2000000"/>
            <a:ext cx="5000000" cy="36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Aptos"/>
              </a:rPr>
              <a:t>• Selected geometry — Calculated: 400 L, 0.30 m bed, 1.3333 m² area, 1.30…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Installed envelope — Estimate: 2.2 m W × 2.2 m D × 3.0 m H.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Operating-space envelope — Estimate: 4.2 m W × 4.2 m D × 4.5 m H.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Maintenance clearance — Estimate: 1.0 m around frame and 1.5 m overhead.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Envelope benchmark used 1.60 m ID × 0.20 m bed and 402 L; rebase for se…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Calculation summary — 10,000,000 mg / 25 mg/mL = 400 L; capacity margin…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Flow summary — 66.67 L/min selected; 133.33 L/min three-minute boundary…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00000" y="14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Manufacturer shortlist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00000" y="1800000"/>
            <a:ext cx="5000000" cy="18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200" b="0">
                <a:solidFill>
                  <a:srgbClr val="1F2937"/>
                </a:solidFill>
                <a:latin typeface="Aptos"/>
              </a:rPr>
              <a:t>• Repligen OPUS large-scale — Catalog benchmark only: 10–30 c…</a:t>
            </a:r>
          </a:p>
          <a:p>
            <a:r>
              <a:rPr sz="1200" b="0">
                <a:solidFill>
                  <a:srgbClr val="1F2937"/>
                </a:solidFill>
                <a:latin typeface="Aptos"/>
              </a:rPr>
              <a:t>• Cytiva BPG — Catalog benchmark only: up to 450 mm ID and 12…</a:t>
            </a:r>
          </a:p>
          <a:p>
            <a:r>
              <a:rPr sz="1200" b="0">
                <a:solidFill>
                  <a:srgbClr val="1F2937"/>
                </a:solidFill>
                <a:latin typeface="Aptos"/>
              </a:rPr>
              <a:t>• Commercial-scale or custom reusable-column vendor — Final m…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00000" y="3800000"/>
            <a:ext cx="50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7324D"/>
                </a:solidFill>
                <a:latin typeface="Aptos"/>
              </a:rPr>
              <a:t>Do not specify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00000" y="4200000"/>
            <a:ext cx="5000000" cy="1400000"/>
          </a:xfrm>
          <a:prstGeom prst="rect">
            <a:avLst/>
          </a:prstGeom>
          <a:noFill/>
        </p:spPr>
        <p:txBody>
          <a:bodyPr wrap="square" lIns="27432" rIns="27432" tIns="18288" bIns="18288">
            <a:spAutoFit/>
          </a:bodyPr>
          <a:lstStyle/>
          <a:p>
            <a:r>
              <a:rPr sz="1000" b="0">
                <a:solidFill>
                  <a:srgbClr val="1F2937"/>
                </a:solidFill>
                <a:latin typeface="Aptos"/>
              </a:rPr>
              <a:t>• Do not freeze the unrounded 1.3029 m diameter as a vendor…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Do not use the 0.20 m benchmark bed as process geometry.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Do not credit capacity above 25 mg/mL before DBC confirma…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Do not claim packed-bed pressure drop without resin and f…</a:t>
            </a:r>
          </a:p>
          <a:p>
            <a:r>
              <a:rPr sz="1000" b="0">
                <a:solidFill>
                  <a:srgbClr val="1F2937"/>
                </a:solidFill>
                <a:latin typeface="Aptos"/>
              </a:rPr>
              <a:t>• Do not assume vacuum capability or catalog-model complian…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0">
                <a:solidFill>
                  <a:srgbClr val="6B7280"/>
                </a:solidFill>
                <a:latin typeface="Aptos"/>
              </a:rPr>
              <a:t>Project-team summary • Slide 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6510528"/>
            <a:ext cx="365760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50" b="0">
                <a:solidFill>
                  <a:srgbClr val="6B7280"/>
                </a:solidFill>
                <a:latin typeface="Aptos"/>
              </a:rPr>
              <a:t>Basis: user DIR code 2-3-3-2-3-1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